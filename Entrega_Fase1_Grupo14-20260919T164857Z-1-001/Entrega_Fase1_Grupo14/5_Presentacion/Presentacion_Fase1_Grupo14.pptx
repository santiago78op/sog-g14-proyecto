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68" r:id="rId20"/>
    <p:sldId id="269" r:id="rId21"/>
    <p:sldId id="259" r:id="rId11"/>
    <p:sldId id="260" r:id="rId12"/>
    <p:sldId id="261" r:id="rId13"/>
    <p:sldId id="262" r:id="rId14"/>
    <p:sldId id="263" r:id="rId15"/>
    <p:sldId id="264" r:id="rId16"/>
    <p:sldId id="265" r:id="rId17"/>
    <p:sldId id="270" r:id="rId22"/>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Abre el rol 1. Presenta al equipo y dice en una frase qué es RutaMoto. Máximo 40 segundos: la portada no es donde se ganan puntos.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 2. Este es el diagnóstico. Si preguntan por datos duros de mercado, hay que decir con honestidad qué es dato con fuente y qué es supuesto del caso. Inventar una cifra es peor que reconocer el supuesto.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 2. La pregunta previsible es "¿por qué repuestos de moto?". Respuesta: es el giro donde el inventario, las órdenes de compra y las cotizaciones existen por necesidad del negocio, no porque la rúbrica los pida. En otro giro habría que justificar la mitad de los módulos a la fuerza.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 1. Llenar con la tabla de la sección 4 del informe. Deben ser los mismos objetivos del documento, palabra por palabra: una diapositiva que no coincide con el informe es la forma más fácil de perder credibilidad.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1 y 2, media diapositiva cada uno. No leer los ocho: mencionar los ocho y desarrollar dos, el FODA y el que mejor manejen. El resto está en el informe.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 3. La rúbrica pide justificación técnica, costos, ventajas y desventajas. Un cuadro que solo lista funciones sin concluir cae en "necesita mejorar". Decí la desventaja de la opción elegida: reconocerla demuestra que sí comparaste.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 4. El argumento fuerte: comparte base de datos con el ERP, así que el cliente registrado en la tienda queda disponible en Ventas sin construir integración por API. Con el plazo que hay, esa integración era el riesgo más grande.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3 y 4. La pregunta que van a hacer: "¿por qué local y no en la nube?". Respuesta: el enunciado permite las dos, y lo que se califica es el manual con capturas, no dónde vive el servidor. Segunda pregunta previsible: "entonces por qué el presupuesto incluye VPS y dominio". Respuesta: el presupuesto es el de RutaMoto como empresa real, que sí pagaría hosting; local es una decisión nuestra de desarrollo. Sabérselo es la diferencia entre dominar el proyecto y haberlo copiado.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3 y 4. Reemplazar los recuadros por capturas reales. Si el catedrático pide demostración en vivo, tener Odoo ya abierto en otra pestaña: levantarlo delante de todos gasta minutos que no sobran.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 2. Insertar la imagen del mapa. No leerlo entero: recorrer una sola compra de punta a punta, mostrando dónde entra el e-commerce, dónde el CRM, dónde el ERP y dónde las TIC. Son los cuatro componentes que el enunciado exige que aparezcan.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 2. La cadena tiene que cuadrar en voz alta: 8,000 × 2.5% = 200 pedidos; 200 × Q 285 = Q 57,000. Si preguntan por cambiar un número, la respuesta es que hay que mover los demás. Los cinco KPIs son calculables con lo que el ERP registra, que es lo que los hace útiles en la Fase 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 1. Cerrar en menos de un minuto. La parte de preguntas es donde se juegan los 15 puntos: cualquiera puede recibir cualquier pregunta, así que los cuatro tienen que poder explicar el proyecto completo, no solo su parte.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10058400" cy="1097280"/>
          </a:xfrm>
          <a:prstGeom prst="rect">
            <a:avLst/>
          </a:prstGeom>
          <a:noFill/>
        </p:spPr>
        <p:txBody>
          <a:bodyPr wrap="square">
            <a:spAutoFit/>
          </a:bodyPr>
          <a:lstStyle/>
          <a:p>
            <a:pPr algn="l">
              <a:spcAft>
                <a:spcPts val="600"/>
              </a:spcAft>
            </a:pPr>
            <a:r>
              <a:rPr sz="5400" b="1">
                <a:solidFill>
                  <a:srgbClr val="FFFFFF"/>
                </a:solidFill>
                <a:latin typeface="Segoe UI"/>
              </a:rPr>
              <a:t>RutaMoto</a:t>
            </a:r>
          </a:p>
        </p:txBody>
      </p:sp>
      <p:sp>
        <p:nvSpPr>
          <p:cNvPr id="4" name="TextBox 3"/>
          <p:cNvSpPr txBox="1"/>
          <p:nvPr/>
        </p:nvSpPr>
        <p:spPr>
          <a:xfrm>
            <a:off x="1097280" y="3108960"/>
            <a:ext cx="10058400" cy="914400"/>
          </a:xfrm>
          <a:prstGeom prst="rect">
            <a:avLst/>
          </a:prstGeom>
          <a:noFill/>
        </p:spPr>
        <p:txBody>
          <a:bodyPr wrap="square">
            <a:spAutoFit/>
          </a:bodyPr>
          <a:lstStyle/>
          <a:p>
            <a:pPr algn="l">
              <a:spcAft>
                <a:spcPts val="600"/>
              </a:spcAft>
            </a:pPr>
            <a:r>
              <a:rPr sz="2200" b="0">
                <a:solidFill>
                  <a:srgbClr val="DDE4EE"/>
                </a:solidFill>
                <a:latin typeface="Segoe UI"/>
              </a:rPr>
              <a:t>Transformación Digital en E-Commerce con ERP, CRM y BI</a:t>
            </a:r>
          </a:p>
        </p:txBody>
      </p:sp>
      <p:sp>
        <p:nvSpPr>
          <p:cNvPr id="5" name="TextBox 4"/>
          <p:cNvSpPr txBox="1"/>
          <p:nvPr/>
        </p:nvSpPr>
        <p:spPr>
          <a:xfrm>
            <a:off x="1097280" y="4023360"/>
            <a:ext cx="10058400" cy="1280160"/>
          </a:xfrm>
          <a:prstGeom prst="rect">
            <a:avLst/>
          </a:prstGeom>
          <a:noFill/>
        </p:spPr>
        <p:txBody>
          <a:bodyPr wrap="square">
            <a:spAutoFit/>
          </a:bodyPr>
          <a:lstStyle/>
          <a:p>
            <a:pPr algn="l">
              <a:spcAft>
                <a:spcPts val="600"/>
              </a:spcAft>
            </a:pPr>
            <a:r>
              <a:rPr sz="1600" b="0">
                <a:solidFill>
                  <a:srgbClr val="BBC7D8"/>
                </a:solidFill>
                <a:latin typeface="Segoe UI"/>
              </a:rPr>
              <a:t>Fase 1 — Planificación, diseño y diagnóstico</a:t>
            </a:r>
          </a:p>
          <a:p>
            <a:pPr algn="l">
              <a:spcAft>
                <a:spcPts val="600"/>
              </a:spcAft>
            </a:pPr>
            <a:r>
              <a:rPr sz="1600" b="0">
                <a:solidFill>
                  <a:srgbClr val="BBC7D8"/>
                </a:solidFill>
                <a:latin typeface="Segoe UI"/>
              </a:rPr>
              <a:t>Grupo 14  ·  Sistemas Organizacionales y Gerenciales 1</a:t>
            </a:r>
          </a:p>
          <a:p>
            <a:pPr algn="l">
              <a:spcAft>
                <a:spcPts val="600"/>
              </a:spcAft>
            </a:pPr>
            <a:r>
              <a:rPr sz="1600" b="0">
                <a:solidFill>
                  <a:srgbClr val="BBC7D8"/>
                </a:solidFill>
                <a:latin typeface="Segoe UI"/>
              </a:rPr>
              <a:t>19 de septiembre de 2026</a:t>
            </a:r>
          </a:p>
        </p:txBody>
      </p:sp>
      <p:sp>
        <p:nvSpPr>
          <p:cNvPr id="6" name="TextBox 5"/>
          <p:cNvSpPr txBox="1"/>
          <p:nvPr/>
        </p:nvSpPr>
        <p:spPr>
          <a:xfrm>
            <a:off x="1097280" y="5669280"/>
            <a:ext cx="10058400" cy="731520"/>
          </a:xfrm>
          <a:prstGeom prst="rect">
            <a:avLst/>
          </a:prstGeom>
          <a:noFill/>
        </p:spPr>
        <p:txBody>
          <a:bodyPr wrap="square">
            <a:spAutoFit/>
          </a:bodyPr>
          <a:lstStyle/>
          <a:p>
            <a:pPr algn="l">
              <a:spcAft>
                <a:spcPts val="600"/>
              </a:spcAft>
            </a:pPr>
            <a:r>
              <a:rPr sz="1400" b="0">
                <a:solidFill>
                  <a:srgbClr val="8A9BB5"/>
                </a:solidFill>
                <a:latin typeface="Segoe UI"/>
              </a:rPr>
              <a:t>Santiago Julián Barrera Reyes — 201905884   ·   Jemima Solmaira Chavajay — 201801521</a:t>
            </a:r>
          </a:p>
          <a:p>
            <a:pPr algn="l">
              <a:spcAft>
                <a:spcPts val="600"/>
              </a:spcAft>
            </a:pPr>
            <a:r>
              <a:rPr sz="1400" b="0">
                <a:solidFill>
                  <a:srgbClr val="8A9BB5"/>
                </a:solidFill>
                <a:latin typeface="Segoe UI"/>
              </a:rPr>
              <a:t>Alberto Josué Hernández Armas — 201903553   ·   Brayan Emanuel García — 202300848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El problema</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Por qué existe este proyecto</a:t>
            </a:r>
          </a:p>
        </p:txBody>
      </p:sp>
      <p:sp>
        <p:nvSpPr>
          <p:cNvPr id="5" name="TextBox 4"/>
          <p:cNvSpPr txBox="1"/>
          <p:nvPr/>
        </p:nvSpPr>
        <p:spPr>
          <a:xfrm>
            <a:off x="822960" y="2011680"/>
            <a:ext cx="10515600" cy="1463040"/>
          </a:xfrm>
          <a:prstGeom prst="rect">
            <a:avLst/>
          </a:prstGeom>
          <a:solidFill>
            <a:srgbClr val="F2F2F2"/>
          </a:solidFill>
          <a:ln>
            <a:noFill/>
          </a:ln>
        </p:spPr>
        <p:txBody>
          <a:bodyPr wrap="square">
            <a:spAutoFit/>
          </a:bodyPr>
          <a:lstStyle/>
          <a:p>
            <a:pPr algn="l">
              <a:spcAft>
                <a:spcPts val="600"/>
              </a:spcAft>
            </a:pPr>
            <a:r>
              <a:rPr sz="2200" b="0">
                <a:solidFill>
                  <a:srgbClr val="1F3A5F"/>
                </a:solidFill>
                <a:latin typeface="Segoe UI"/>
              </a:rPr>
              <a:t>El motociclista guatemalteco compra repuestos yendo al local, sin saber si hay existencia ni cuánto cuesta. El vendedor no lleva registro de a quién le vendió qué.</a:t>
            </a:r>
          </a:p>
        </p:txBody>
      </p:sp>
      <p:sp>
        <p:nvSpPr>
          <p:cNvPr id="6" name="TextBox 5"/>
          <p:cNvSpPr txBox="1"/>
          <p:nvPr/>
        </p:nvSpPr>
        <p:spPr>
          <a:xfrm>
            <a:off x="822960" y="3749039"/>
            <a:ext cx="10515600" cy="4206240"/>
          </a:xfrm>
          <a:prstGeom prst="rect">
            <a:avLst/>
          </a:prstGeom>
          <a:noFill/>
        </p:spPr>
        <p:txBody>
          <a:bodyPr wrap="square">
            <a:spAutoFit/>
          </a:bodyPr>
          <a:lstStyle/>
          <a:p>
            <a:pPr>
              <a:spcAft>
                <a:spcPts val="1000"/>
              </a:spcAft>
            </a:pPr>
            <a:r>
              <a:rPr sz="1800">
                <a:solidFill>
                  <a:srgbClr val="595959"/>
                </a:solidFill>
                <a:latin typeface="Segoe UI"/>
              </a:rPr>
              <a:t>•  El cliente pierde el día buscando una pieza.</a:t>
            </a:r>
          </a:p>
          <a:p>
            <a:pPr>
              <a:spcAft>
                <a:spcPts val="1000"/>
              </a:spcAft>
            </a:pPr>
            <a:r>
              <a:rPr sz="1800">
                <a:solidFill>
                  <a:srgbClr val="595959"/>
                </a:solidFill>
                <a:latin typeface="Segoe UI"/>
              </a:rPr>
              <a:t>•  El negocio pierde ventas por quiebres de stock que nadie midió.</a:t>
            </a:r>
          </a:p>
          <a:p>
            <a:pPr>
              <a:spcAft>
                <a:spcPts val="1000"/>
              </a:spcAft>
            </a:pPr>
            <a:r>
              <a:rPr sz="1800">
                <a:solidFill>
                  <a:srgbClr val="595959"/>
                </a:solidFill>
                <a:latin typeface="Segoe UI"/>
              </a:rPr>
              <a:t>•  No hay historial, así que no hay recordatorio de mantenimiento ni forma de anticipar la demanda.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RutaMoto</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La empresa que vamos a digitalizar</a:t>
            </a:r>
          </a:p>
        </p:txBody>
      </p:sp>
      <p:graphicFrame>
        <p:nvGraphicFramePr>
          <p:cNvPr id="5" name="Table 4"/>
          <p:cNvGraphicFramePr>
            <a:graphicFrameLocks noGrp="1"/>
          </p:cNvGraphicFramePr>
          <p:nvPr/>
        </p:nvGraphicFramePr>
        <p:xfrm>
          <a:off x="822960" y="2011680"/>
          <a:ext cx="10515600" cy="2743200"/>
        </p:xfrm>
        <a:graphic>
          <a:graphicData uri="http://schemas.openxmlformats.org/drawingml/2006/table">
            <a:tbl>
              <a:tblPr firstRow="1" bandRow="1">
                <a:tableStyleId>{5C22544A-7EE6-4342-B048-85BDC9FD1C3A}</a:tableStyleId>
              </a:tblPr>
              <a:tblGrid>
                <a:gridCol w="2313432"/>
                <a:gridCol w="8202168"/>
              </a:tblGrid>
              <a:tr h="457200">
                <a:tc>
                  <a:txBody>
                    <a:bodyPr/>
                    <a:lstStyle/>
                    <a:p>
                      <a:r>
                        <a:rPr sz="1400" b="1">
                          <a:solidFill>
                            <a:srgbClr val="FFFFFF"/>
                          </a:solidFill>
                          <a:latin typeface="Segoe UI"/>
                        </a:rPr>
                        <a:t>Dato</a:t>
                      </a:r>
                    </a:p>
                  </a:txBody>
                  <a:tcPr>
                    <a:solidFill>
                      <a:srgbClr val="1F3A5F"/>
                    </a:solidFill>
                  </a:tcPr>
                </a:tc>
                <a:tc>
                  <a:txBody>
                    <a:bodyPr/>
                    <a:lstStyle/>
                    <a:p>
                      <a:r>
                        <a:rPr sz="1400" b="1">
                          <a:solidFill>
                            <a:srgbClr val="FFFFFF"/>
                          </a:solidFill>
                          <a:latin typeface="Segoe UI"/>
                        </a:rPr>
                        <a:t>Valor</a:t>
                      </a:r>
                    </a:p>
                  </a:txBody>
                  <a:tcPr>
                    <a:solidFill>
                      <a:srgbClr val="1F3A5F"/>
                    </a:solidFill>
                  </a:tcPr>
                </a:tc>
              </a:tr>
              <a:tr h="457200">
                <a:tc>
                  <a:txBody>
                    <a:bodyPr/>
                    <a:lstStyle/>
                    <a:p>
                      <a:r>
                        <a:rPr sz="1300" b="0">
                          <a:solidFill>
                            <a:srgbClr val="595959"/>
                          </a:solidFill>
                          <a:latin typeface="Segoe UI"/>
                        </a:rPr>
                        <a:t>Sector</a:t>
                      </a:r>
                    </a:p>
                  </a:txBody>
                  <a:tcPr/>
                </a:tc>
                <a:tc>
                  <a:txBody>
                    <a:bodyPr/>
                    <a:lstStyle/>
                    <a:p>
                      <a:r>
                        <a:rPr sz="1300" b="0">
                          <a:solidFill>
                            <a:srgbClr val="595959"/>
                          </a:solidFill>
                          <a:latin typeface="Segoe UI"/>
                        </a:rPr>
                        <a:t>Repuestos y accesorios para motocicleta (mercado de reposición)</a:t>
                      </a:r>
                    </a:p>
                  </a:txBody>
                  <a:tcPr/>
                </a:tc>
              </a:tr>
              <a:tr h="457200">
                <a:tc>
                  <a:txBody>
                    <a:bodyPr/>
                    <a:lstStyle/>
                    <a:p>
                      <a:r>
                        <a:rPr sz="1300" b="0">
                          <a:solidFill>
                            <a:srgbClr val="595959"/>
                          </a:solidFill>
                          <a:latin typeface="Segoe UI"/>
                        </a:rPr>
                        <a:t>Alcance inicial</a:t>
                      </a:r>
                    </a:p>
                  </a:txBody>
                  <a:tcPr/>
                </a:tc>
                <a:tc>
                  <a:txBody>
                    <a:bodyPr/>
                    <a:lstStyle/>
                    <a:p>
                      <a:r>
                        <a:rPr sz="1300" b="0">
                          <a:solidFill>
                            <a:srgbClr val="595959"/>
                          </a:solidFill>
                          <a:latin typeface="Segoe UI"/>
                        </a:rPr>
                        <a:t>Área metropolitana: Guatemala, Mixco, Villa Nueva</a:t>
                      </a:r>
                    </a:p>
                  </a:txBody>
                  <a:tcPr/>
                </a:tc>
              </a:tr>
              <a:tr h="457200">
                <a:tc>
                  <a:txBody>
                    <a:bodyPr/>
                    <a:lstStyle/>
                    <a:p>
                      <a:r>
                        <a:rPr sz="1300" b="0">
                          <a:solidFill>
                            <a:srgbClr val="595959"/>
                          </a:solidFill>
                          <a:latin typeface="Segoe UI"/>
                        </a:rPr>
                        <a:t>Modelo</a:t>
                      </a:r>
                    </a:p>
                  </a:txBody>
                  <a:tcPr/>
                </a:tc>
                <a:tc>
                  <a:txBody>
                    <a:bodyPr/>
                    <a:lstStyle/>
                    <a:p>
                      <a:r>
                        <a:rPr sz="1300" b="0">
                          <a:solidFill>
                            <a:srgbClr val="595959"/>
                          </a:solidFill>
                          <a:latin typeface="Segoe UI"/>
                        </a:rPr>
                        <a:t>E-commerce propio, entrega a domicilio y recogida en tienda</a:t>
                      </a:r>
                    </a:p>
                  </a:txBody>
                  <a:tcPr/>
                </a:tc>
              </a:tr>
              <a:tr h="457200">
                <a:tc>
                  <a:txBody>
                    <a:bodyPr/>
                    <a:lstStyle/>
                    <a:p>
                      <a:r>
                        <a:rPr sz="1300" b="0">
                          <a:solidFill>
                            <a:srgbClr val="595959"/>
                          </a:solidFill>
                          <a:latin typeface="Segoe UI"/>
                        </a:rPr>
                        <a:t>Catálogo</a:t>
                      </a:r>
                    </a:p>
                  </a:txBody>
                  <a:tcPr/>
                </a:tc>
                <a:tc>
                  <a:txBody>
                    <a:bodyPr/>
                    <a:lstStyle/>
                    <a:p>
                      <a:r>
                        <a:rPr sz="1300" b="0">
                          <a:solidFill>
                            <a:srgbClr val="595959"/>
                          </a:solidFill>
                          <a:latin typeface="Segoe UI"/>
                        </a:rPr>
                        <a:t>36 productos en 6 categorías</a:t>
                      </a:r>
                    </a:p>
                  </a:txBody>
                  <a:tcPr/>
                </a:tc>
              </a:tr>
              <a:tr h="457200">
                <a:tc>
                  <a:txBody>
                    <a:bodyPr/>
                    <a:lstStyle/>
                    <a:p>
                      <a:r>
                        <a:rPr sz="1300" b="0">
                          <a:solidFill>
                            <a:srgbClr val="595959"/>
                          </a:solidFill>
                          <a:latin typeface="Segoe UI"/>
                        </a:rPr>
                        <a:t>Segmentos</a:t>
                      </a:r>
                    </a:p>
                  </a:txBody>
                  <a:tcPr/>
                </a:tc>
                <a:tc>
                  <a:txBody>
                    <a:bodyPr/>
                    <a:lstStyle/>
                    <a:p>
                      <a:r>
                        <a:rPr sz="1300" b="0">
                          <a:solidFill>
                            <a:srgbClr val="595959"/>
                          </a:solidFill>
                          <a:latin typeface="Segoe UI"/>
                        </a:rPr>
                        <a:t>Repartidor · Particular · Taller (B2B) · Entusiasta</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Objetivos</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Qué se compromete a lograr el proyecto</a:t>
            </a:r>
          </a:p>
        </p:txBody>
      </p:sp>
      <p:graphicFrame>
        <p:nvGraphicFramePr>
          <p:cNvPr id="5" name="Table 4"/>
          <p:cNvGraphicFramePr>
            <a:graphicFrameLocks noGrp="1"/>
          </p:cNvGraphicFramePr>
          <p:nvPr/>
        </p:nvGraphicFramePr>
        <p:xfrm>
          <a:off x="822960" y="2011680"/>
          <a:ext cx="10515600" cy="2560320"/>
        </p:xfrm>
        <a:graphic>
          <a:graphicData uri="http://schemas.openxmlformats.org/drawingml/2006/table">
            <a:tbl>
              <a:tblPr firstRow="1" bandRow="1">
                <a:tableStyleId>{5C22544A-7EE6-4342-B048-85BDC9FD1C3A}</a:tableStyleId>
              </a:tblPr>
              <a:tblGrid>
                <a:gridCol w="4837176"/>
                <a:gridCol w="3575304"/>
                <a:gridCol w="2103120"/>
              </a:tblGrid>
              <a:tr h="512064">
                <a:tc>
                  <a:txBody>
                    <a:bodyPr/>
                    <a:lstStyle/>
                    <a:p>
                      <a:r>
                        <a:rPr sz="1400" b="1">
                          <a:solidFill>
                            <a:srgbClr val="FFFFFF"/>
                          </a:solidFill>
                          <a:latin typeface="Segoe UI"/>
                        </a:rPr>
                        <a:t>Objetivo</a:t>
                      </a:r>
                    </a:p>
                  </a:txBody>
                  <a:tcPr>
                    <a:solidFill>
                      <a:srgbClr val="1F3A5F"/>
                    </a:solidFill>
                  </a:tcPr>
                </a:tc>
                <a:tc>
                  <a:txBody>
                    <a:bodyPr/>
                    <a:lstStyle/>
                    <a:p>
                      <a:r>
                        <a:rPr sz="1400" b="1">
                          <a:solidFill>
                            <a:srgbClr val="FFFFFF"/>
                          </a:solidFill>
                          <a:latin typeface="Segoe UI"/>
                        </a:rPr>
                        <a:t>Meta medible</a:t>
                      </a:r>
                    </a:p>
                  </a:txBody>
                  <a:tcPr>
                    <a:solidFill>
                      <a:srgbClr val="1F3A5F"/>
                    </a:solidFill>
                  </a:tcPr>
                </a:tc>
                <a:tc>
                  <a:txBody>
                    <a:bodyPr/>
                    <a:lstStyle/>
                    <a:p>
                      <a:r>
                        <a:rPr sz="1400" b="1">
                          <a:solidFill>
                            <a:srgbClr val="FFFFFF"/>
                          </a:solidFill>
                          <a:latin typeface="Segoe UI"/>
                        </a:rPr>
                        <a:t>Plazo</a:t>
                      </a:r>
                    </a:p>
                  </a:txBody>
                  <a:tcPr>
                    <a:solidFill>
                      <a:srgbClr val="1F3A5F"/>
                    </a:solidFill>
                  </a:tcPr>
                </a:tc>
              </a:tr>
              <a:tr h="512064">
                <a:tc>
                  <a:txBody>
                    <a:bodyPr/>
                    <a:lstStyle/>
                    <a:p>
                      <a:r>
                        <a:rPr sz="1300" b="0">
                          <a:solidFill>
                            <a:srgbClr val="595959"/>
                          </a:solidFill>
                          <a:latin typeface="Segoe UI"/>
                        </a:rPr>
                        <a:t>Habilitar el canal de venta en línea</a:t>
                      </a:r>
                    </a:p>
                  </a:txBody>
                  <a:tcPr/>
                </a:tc>
                <a:tc>
                  <a:txBody>
                    <a:bodyPr/>
                    <a:lstStyle/>
                    <a:p>
                      <a:r>
                        <a:rPr sz="1300" b="0">
                          <a:solidFill>
                            <a:srgbClr val="595959"/>
                          </a:solidFill>
                          <a:latin typeface="Segoe UI"/>
                        </a:rPr>
                        <a:t>Sitio con 36 productos, carrito, registro y cotizaciones, sosteniendo 2.5% de conversión</a:t>
                      </a:r>
                    </a:p>
                  </a:txBody>
                  <a:tcPr/>
                </a:tc>
                <a:tc>
                  <a:txBody>
                    <a:bodyPr/>
                    <a:lstStyle/>
                    <a:p>
                      <a:r>
                        <a:rPr sz="1300" b="0">
                          <a:solidFill>
                            <a:srgbClr val="595959"/>
                          </a:solidFill>
                          <a:latin typeface="Segoe UI"/>
                        </a:rPr>
                        <a:t>24 oct 2026</a:t>
                      </a:r>
                    </a:p>
                  </a:txBody>
                  <a:tcPr/>
                </a:tc>
              </a:tr>
              <a:tr h="512064">
                <a:tc>
                  <a:txBody>
                    <a:bodyPr/>
                    <a:lstStyle/>
                    <a:p>
                      <a:r>
                        <a:rPr sz="1300" b="0">
                          <a:solidFill>
                            <a:srgbClr val="595959"/>
                          </a:solidFill>
                          <a:latin typeface="Segoe UI"/>
                        </a:rPr>
                        <a:t>Centralizar el control de inventario</a:t>
                      </a:r>
                    </a:p>
                  </a:txBody>
                  <a:tcPr/>
                </a:tc>
                <a:tc>
                  <a:txBody>
                    <a:bodyPr/>
                    <a:lstStyle/>
                    <a:p>
                      <a:r>
                        <a:rPr sz="1300" b="0">
                          <a:solidFill>
                            <a:srgbClr val="595959"/>
                          </a:solidFill>
                          <a:latin typeface="Segoe UI"/>
                        </a:rPr>
                        <a:t>Todos los movimientos de los 36 SKU en el ERP, con quiebre de stock ≤ 5%</a:t>
                      </a:r>
                    </a:p>
                  </a:txBody>
                  <a:tcPr/>
                </a:tc>
                <a:tc>
                  <a:txBody>
                    <a:bodyPr/>
                    <a:lstStyle/>
                    <a:p>
                      <a:r>
                        <a:rPr sz="1300" b="0">
                          <a:solidFill>
                            <a:srgbClr val="595959"/>
                          </a:solidFill>
                          <a:latin typeface="Segoe UI"/>
                        </a:rPr>
                        <a:t>3 oct 2026</a:t>
                      </a:r>
                    </a:p>
                  </a:txBody>
                  <a:tcPr/>
                </a:tc>
              </a:tr>
              <a:tr h="512064">
                <a:tc>
                  <a:txBody>
                    <a:bodyPr/>
                    <a:lstStyle/>
                    <a:p>
                      <a:r>
                        <a:rPr sz="1300" b="0">
                          <a:solidFill>
                            <a:srgbClr val="595959"/>
                          </a:solidFill>
                          <a:latin typeface="Segoe UI"/>
                        </a:rPr>
                        <a:t>Construir una base de clientes segmentada</a:t>
                      </a:r>
                    </a:p>
                  </a:txBody>
                  <a:tcPr/>
                </a:tc>
                <a:tc>
                  <a:txBody>
                    <a:bodyPr/>
                    <a:lstStyle/>
                    <a:p>
                      <a:r>
                        <a:rPr sz="1300" b="0">
                          <a:solidFill>
                            <a:srgbClr val="595959"/>
                          </a:solidFill>
                          <a:latin typeface="Segoe UI"/>
                        </a:rPr>
                        <a:t>350 clientes y 15 talleres afiliados, clasificados en 4 segmentos</a:t>
                      </a:r>
                    </a:p>
                  </a:txBody>
                  <a:tcPr/>
                </a:tc>
                <a:tc>
                  <a:txBody>
                    <a:bodyPr/>
                    <a:lstStyle/>
                    <a:p>
                      <a:r>
                        <a:rPr sz="1300" b="0">
                          <a:solidFill>
                            <a:srgbClr val="595959"/>
                          </a:solidFill>
                          <a:latin typeface="Segoe UI"/>
                        </a:rPr>
                        <a:t>1er trimestre</a:t>
                      </a:r>
                    </a:p>
                  </a:txBody>
                  <a:tcPr/>
                </a:tc>
              </a:tr>
              <a:tr h="512064">
                <a:tc>
                  <a:txBody>
                    <a:bodyPr/>
                    <a:lstStyle/>
                    <a:p>
                      <a:r>
                        <a:rPr sz="1300" b="0">
                          <a:solidFill>
                            <a:srgbClr val="595959"/>
                          </a:solidFill>
                          <a:latin typeface="Segoe UI"/>
                        </a:rPr>
                        <a:t>Sostener la promesa de entrega</a:t>
                      </a:r>
                    </a:p>
                  </a:txBody>
                  <a:tcPr/>
                </a:tc>
                <a:tc>
                  <a:txBody>
                    <a:bodyPr/>
                    <a:lstStyle/>
                    <a:p>
                      <a:r>
                        <a:rPr sz="1300" b="0">
                          <a:solidFill>
                            <a:srgbClr val="595959"/>
                          </a:solidFill>
                          <a:latin typeface="Segoe UI"/>
                        </a:rPr>
                        <a:t>90% de pedidos metropolitanos en menos de 24 h, con CSAT ≥ 4.3 de 5</a:t>
                      </a:r>
                    </a:p>
                  </a:txBody>
                  <a:tcPr/>
                </a:tc>
                <a:tc>
                  <a:txBody>
                    <a:bodyPr/>
                    <a:lstStyle/>
                    <a:p>
                      <a:r>
                        <a:rPr sz="1300" b="0">
                          <a:solidFill>
                            <a:srgbClr val="595959"/>
                          </a:solidFill>
                          <a:latin typeface="Segoe UI"/>
                        </a:rPr>
                        <a:t>1er trimestre</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Marco de planificación</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Los ocho planes aplicados a RutaMoto</a:t>
            </a:r>
          </a:p>
        </p:txBody>
      </p:sp>
      <p:graphicFrame>
        <p:nvGraphicFramePr>
          <p:cNvPr id="5" name="Table 4"/>
          <p:cNvGraphicFramePr>
            <a:graphicFrameLocks noGrp="1"/>
          </p:cNvGraphicFramePr>
          <p:nvPr/>
        </p:nvGraphicFramePr>
        <p:xfrm>
          <a:off x="822960" y="2011680"/>
          <a:ext cx="10515600" cy="3840480"/>
        </p:xfrm>
        <a:graphic>
          <a:graphicData uri="http://schemas.openxmlformats.org/drawingml/2006/table">
            <a:tbl>
              <a:tblPr firstRow="1" bandRow="1">
                <a:tableStyleId>{5C22544A-7EE6-4342-B048-85BDC9FD1C3A}</a:tableStyleId>
              </a:tblPr>
              <a:tblGrid>
                <a:gridCol w="2734056"/>
                <a:gridCol w="7781544"/>
              </a:tblGrid>
              <a:tr h="426720">
                <a:tc>
                  <a:txBody>
                    <a:bodyPr/>
                    <a:lstStyle/>
                    <a:p>
                      <a:r>
                        <a:rPr sz="1400" b="1">
                          <a:solidFill>
                            <a:srgbClr val="FFFFFF"/>
                          </a:solidFill>
                          <a:latin typeface="Segoe UI"/>
                        </a:rPr>
                        <a:t>Plan</a:t>
                      </a:r>
                    </a:p>
                  </a:txBody>
                  <a:tcPr>
                    <a:solidFill>
                      <a:srgbClr val="1F3A5F"/>
                    </a:solidFill>
                  </a:tcPr>
                </a:tc>
                <a:tc>
                  <a:txBody>
                    <a:bodyPr/>
                    <a:lstStyle/>
                    <a:p>
                      <a:r>
                        <a:rPr sz="1400" b="1">
                          <a:solidFill>
                            <a:srgbClr val="FFFFFF"/>
                          </a:solidFill>
                          <a:latin typeface="Segoe UI"/>
                        </a:rPr>
                        <a:t>Qué define para RutaMoto</a:t>
                      </a:r>
                    </a:p>
                  </a:txBody>
                  <a:tcPr>
                    <a:solidFill>
                      <a:srgbClr val="1F3A5F"/>
                    </a:solidFill>
                  </a:tcPr>
                </a:tc>
              </a:tr>
              <a:tr h="426720">
                <a:tc>
                  <a:txBody>
                    <a:bodyPr/>
                    <a:lstStyle/>
                    <a:p>
                      <a:r>
                        <a:rPr sz="1300" b="0">
                          <a:solidFill>
                            <a:srgbClr val="595959"/>
                          </a:solidFill>
                          <a:latin typeface="Segoe UI"/>
                        </a:rPr>
                        <a:t>Estratégico</a:t>
                      </a:r>
                    </a:p>
                  </a:txBody>
                  <a:tcPr/>
                </a:tc>
                <a:tc>
                  <a:txBody>
                    <a:bodyPr/>
                    <a:lstStyle/>
                    <a:p>
                      <a:r>
                        <a:rPr sz="1300" b="0">
                          <a:solidFill>
                            <a:srgbClr val="595959"/>
                          </a:solidFill>
                          <a:latin typeface="Segoe UI"/>
                        </a:rPr>
                        <a:t>Ser el proveedor en línea de referencia del motociclista metropolitano, a tres años: canal propio, disponibilidad antes que precio y entrega rápida.</a:t>
                      </a:r>
                    </a:p>
                  </a:txBody>
                  <a:tcPr/>
                </a:tc>
              </a:tr>
              <a:tr h="426720">
                <a:tc>
                  <a:txBody>
                    <a:bodyPr/>
                    <a:lstStyle/>
                    <a:p>
                      <a:r>
                        <a:rPr sz="1300" b="0">
                          <a:solidFill>
                            <a:srgbClr val="595959"/>
                          </a:solidFill>
                          <a:latin typeface="Segoe UI"/>
                        </a:rPr>
                        <a:t>Operativo</a:t>
                      </a:r>
                    </a:p>
                  </a:txBody>
                  <a:tcPr/>
                </a:tc>
                <a:tc>
                  <a:txBody>
                    <a:bodyPr/>
                    <a:lstStyle/>
                    <a:p>
                      <a:r>
                        <a:rPr sz="1300" b="0">
                          <a:solidFill>
                            <a:srgbClr val="595959"/>
                          </a:solidFill>
                          <a:latin typeface="Segoe UI"/>
                        </a:rPr>
                        <a:t>El día a día por ritmo: pedidos y despacho a diario, compras y cotizaciones cada semana, cierre contable y campañas cada mes.</a:t>
                      </a:r>
                    </a:p>
                  </a:txBody>
                  <a:tcPr/>
                </a:tc>
              </a:tr>
              <a:tr h="426720">
                <a:tc>
                  <a:txBody>
                    <a:bodyPr/>
                    <a:lstStyle/>
                    <a:p>
                      <a:r>
                        <a:rPr sz="1300" b="0">
                          <a:solidFill>
                            <a:srgbClr val="595959"/>
                          </a:solidFill>
                          <a:latin typeface="Segoe UI"/>
                        </a:rPr>
                        <a:t>Direccional</a:t>
                      </a:r>
                    </a:p>
                  </a:txBody>
                  <a:tcPr/>
                </a:tc>
                <a:tc>
                  <a:txBody>
                    <a:bodyPr/>
                    <a:lstStyle/>
                    <a:p>
                      <a:r>
                        <a:rPr sz="1300" b="0">
                          <a:solidFill>
                            <a:srgbClr val="595959"/>
                          </a:solidFill>
                          <a:latin typeface="Segoe UI"/>
                        </a:rPr>
                        <a:t>La pirámide que baja del propósito a la tarea: propósito → tienda en línea → 4 objetivos medibles → catálogo, cotización, campaña y despacho.</a:t>
                      </a:r>
                    </a:p>
                  </a:txBody>
                  <a:tcPr/>
                </a:tc>
              </a:tr>
              <a:tr h="426720">
                <a:tc>
                  <a:txBody>
                    <a:bodyPr/>
                    <a:lstStyle/>
                    <a:p>
                      <a:r>
                        <a:rPr sz="1300" b="0">
                          <a:solidFill>
                            <a:srgbClr val="595959"/>
                          </a:solidFill>
                          <a:latin typeface="Segoe UI"/>
                        </a:rPr>
                        <a:t>De un solo uso</a:t>
                      </a:r>
                    </a:p>
                  </a:txBody>
                  <a:tcPr/>
                </a:tc>
                <a:tc>
                  <a:txBody>
                    <a:bodyPr/>
                    <a:lstStyle/>
                    <a:p>
                      <a:r>
                        <a:rPr sz="1300" b="0">
                          <a:solidFill>
                            <a:srgbClr val="595959"/>
                          </a:solidFill>
                          <a:latin typeface="Segoe UI"/>
                        </a:rPr>
                        <a:t>Tres iniciativas que se cierran: implementación del ecosistema, carga de datos maestros y lanzamiento comercial del sitio.</a:t>
                      </a:r>
                    </a:p>
                  </a:txBody>
                  <a:tcPr/>
                </a:tc>
              </a:tr>
              <a:tr h="426720">
                <a:tc>
                  <a:txBody>
                    <a:bodyPr/>
                    <a:lstStyle/>
                    <a:p>
                      <a:r>
                        <a:rPr sz="1300" b="0">
                          <a:solidFill>
                            <a:srgbClr val="595959"/>
                          </a:solidFill>
                          <a:latin typeface="Segoe UI"/>
                        </a:rPr>
                        <a:t>Permanentes</a:t>
                      </a:r>
                    </a:p>
                  </a:txBody>
                  <a:tcPr/>
                </a:tc>
                <a:tc>
                  <a:txBody>
                    <a:bodyPr/>
                    <a:lstStyle/>
                    <a:p>
                      <a:r>
                        <a:rPr sz="1300" b="0">
                          <a:solidFill>
                            <a:srgbClr val="595959"/>
                          </a:solidFill>
                          <a:latin typeface="Segoe UI"/>
                        </a:rPr>
                        <a:t>Las políticas que quedan operando: inventario, pedidos, entrega, devoluciones, atención, satisfacción, seguridad de datos y respaldos.</a:t>
                      </a:r>
                    </a:p>
                  </a:txBody>
                  <a:tcPr/>
                </a:tc>
              </a:tr>
              <a:tr h="426720">
                <a:tc>
                  <a:txBody>
                    <a:bodyPr/>
                    <a:lstStyle/>
                    <a:p>
                      <a:r>
                        <a:rPr sz="1300" b="0">
                          <a:solidFill>
                            <a:srgbClr val="595959"/>
                          </a:solidFill>
                          <a:latin typeface="Segoe UI"/>
                        </a:rPr>
                        <a:t>Porter's Diamond</a:t>
                      </a:r>
                    </a:p>
                  </a:txBody>
                  <a:tcPr/>
                </a:tc>
                <a:tc>
                  <a:txBody>
                    <a:bodyPr/>
                    <a:lstStyle/>
                    <a:p>
                      <a:r>
                        <a:rPr sz="1300" b="0">
                          <a:solidFill>
                            <a:srgbClr val="595959"/>
                          </a:solidFill>
                          <a:latin typeface="Segoe UI"/>
                        </a:rPr>
                        <a:t>Factores, demanda, industrias de apoyo y rivalidad en el mercado guatemalteco de repuestos, más gobierno y factores de azar.</a:t>
                      </a:r>
                    </a:p>
                  </a:txBody>
                  <a:tcPr/>
                </a:tc>
              </a:tr>
              <a:tr h="426720">
                <a:tc>
                  <a:txBody>
                    <a:bodyPr/>
                    <a:lstStyle/>
                    <a:p>
                      <a:r>
                        <a:rPr sz="1300" b="0">
                          <a:solidFill>
                            <a:srgbClr val="595959"/>
                          </a:solidFill>
                          <a:latin typeface="Segoe UI"/>
                        </a:rPr>
                        <a:t>FODA</a:t>
                      </a:r>
                    </a:p>
                  </a:txBody>
                  <a:tcPr/>
                </a:tc>
                <a:tc>
                  <a:txBody>
                    <a:bodyPr/>
                    <a:lstStyle/>
                    <a:p>
                      <a:r>
                        <a:rPr sz="1300" b="0">
                          <a:solidFill>
                            <a:srgbClr val="595959"/>
                          </a:solidFill>
                          <a:latin typeface="Segoe UI"/>
                        </a:rPr>
                        <a:t>Fortaleza: ERP, CRM y tienda integrados sin licencia. Debilidad: sin historial. Oportunidad: auge del reparto. Amenaza: informalidad y precio.</a:t>
                      </a:r>
                    </a:p>
                  </a:txBody>
                  <a:tcPr/>
                </a:tc>
              </a:tr>
              <a:tr h="426720">
                <a:tc>
                  <a:txBody>
                    <a:bodyPr/>
                    <a:lstStyle/>
                    <a:p>
                      <a:r>
                        <a:rPr sz="1300" b="0">
                          <a:solidFill>
                            <a:srgbClr val="595959"/>
                          </a:solidFill>
                          <a:latin typeface="Segoe UI"/>
                        </a:rPr>
                        <a:t>VUCA</a:t>
                      </a:r>
                    </a:p>
                  </a:txBody>
                  <a:tcPr/>
                </a:tc>
                <a:tc>
                  <a:txBody>
                    <a:bodyPr/>
                    <a:lstStyle/>
                    <a:p>
                      <a:r>
                        <a:rPr sz="1300" b="0">
                          <a:solidFill>
                            <a:srgbClr val="595959"/>
                          </a:solidFill>
                          <a:latin typeface="Segoe UI"/>
                        </a:rPr>
                        <a:t>Volatilidad del tipo de cambio e importación, incertidumbre por ser empresa nueva, complejidad de 4 segmentos y ambigüedad sobre qué rota.</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Selección del ERP</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15 puntos de la rúbrica</a:t>
            </a:r>
          </a:p>
        </p:txBody>
      </p:sp>
      <p:graphicFrame>
        <p:nvGraphicFramePr>
          <p:cNvPr id="5" name="Table 4"/>
          <p:cNvGraphicFramePr>
            <a:graphicFrameLocks noGrp="1"/>
          </p:cNvGraphicFramePr>
          <p:nvPr/>
        </p:nvGraphicFramePr>
        <p:xfrm>
          <a:off x="822960" y="2011680"/>
          <a:ext cx="10515600" cy="2194560"/>
        </p:xfrm>
        <a:graphic>
          <a:graphicData uri="http://schemas.openxmlformats.org/drawingml/2006/table">
            <a:tbl>
              <a:tblPr firstRow="1" bandRow="1">
                <a:tableStyleId>{5C22544A-7EE6-4342-B048-85BDC9FD1C3A}</a:tableStyleId>
              </a:tblPr>
              <a:tblGrid>
                <a:gridCol w="3154680"/>
                <a:gridCol w="3680460"/>
                <a:gridCol w="3680460"/>
              </a:tblGrid>
              <a:tr h="438912">
                <a:tc>
                  <a:txBody>
                    <a:bodyPr/>
                    <a:lstStyle/>
                    <a:p>
                      <a:r>
                        <a:rPr sz="1400" b="1">
                          <a:solidFill>
                            <a:srgbClr val="FFFFFF"/>
                          </a:solidFill>
                          <a:latin typeface="Segoe UI"/>
                        </a:rPr>
                        <a:t>Criterio</a:t>
                      </a:r>
                    </a:p>
                  </a:txBody>
                  <a:tcPr>
                    <a:solidFill>
                      <a:srgbClr val="1F3A5F"/>
                    </a:solidFill>
                  </a:tcPr>
                </a:tc>
                <a:tc>
                  <a:txBody>
                    <a:bodyPr/>
                    <a:lstStyle/>
                    <a:p>
                      <a:r>
                        <a:rPr sz="1400" b="1">
                          <a:solidFill>
                            <a:srgbClr val="FFFFFF"/>
                          </a:solidFill>
                          <a:latin typeface="Segoe UI"/>
                        </a:rPr>
                        <a:t>Odoo 18.0 Community</a:t>
                      </a:r>
                    </a:p>
                  </a:txBody>
                  <a:tcPr>
                    <a:solidFill>
                      <a:srgbClr val="1F3A5F"/>
                    </a:solidFill>
                  </a:tcPr>
                </a:tc>
                <a:tc>
                  <a:txBody>
                    <a:bodyPr/>
                    <a:lstStyle/>
                    <a:p>
                      <a:r>
                        <a:rPr sz="1400" b="1">
                          <a:solidFill>
                            <a:srgbClr val="FFFFFF"/>
                          </a:solidFill>
                          <a:latin typeface="Segoe UI"/>
                        </a:rPr>
                        <a:t>ERPNext</a:t>
                      </a:r>
                    </a:p>
                  </a:txBody>
                  <a:tcPr>
                    <a:solidFill>
                      <a:srgbClr val="1F3A5F"/>
                    </a:solidFill>
                  </a:tcPr>
                </a:tc>
              </a:tr>
              <a:tr h="438912">
                <a:tc>
                  <a:txBody>
                    <a:bodyPr/>
                    <a:lstStyle/>
                    <a:p>
                      <a:r>
                        <a:rPr sz="1300" b="0">
                          <a:solidFill>
                            <a:srgbClr val="595959"/>
                          </a:solidFill>
                          <a:latin typeface="Segoe UI"/>
                        </a:rPr>
                        <a:t>Licencia y costo</a:t>
                      </a:r>
                    </a:p>
                  </a:txBody>
                  <a:tcPr/>
                </a:tc>
                <a:tc>
                  <a:txBody>
                    <a:bodyPr/>
                    <a:lstStyle/>
                    <a:p>
                      <a:r>
                        <a:rPr sz="1300" b="0">
                          <a:solidFill>
                            <a:srgbClr val="595959"/>
                          </a:solidFill>
                          <a:latin typeface="Segoe UI"/>
                        </a:rPr>
                        <a:t>LGPL v3, sin costo de licencia</a:t>
                      </a:r>
                    </a:p>
                  </a:txBody>
                  <a:tcPr/>
                </a:tc>
                <a:tc>
                  <a:txBody>
                    <a:bodyPr/>
                    <a:lstStyle/>
                    <a:p>
                      <a:r>
                        <a:rPr sz="1300" b="0">
                          <a:solidFill>
                            <a:srgbClr val="595959"/>
                          </a:solidFill>
                          <a:latin typeface="Segoe UI"/>
                        </a:rPr>
                        <a:t>GPL v3, sin costo de licencia</a:t>
                      </a:r>
                    </a:p>
                  </a:txBody>
                  <a:tcPr/>
                </a:tc>
              </a:tr>
              <a:tr h="438912">
                <a:tc>
                  <a:txBody>
                    <a:bodyPr/>
                    <a:lstStyle/>
                    <a:p>
                      <a:r>
                        <a:rPr sz="1300" b="0">
                          <a:solidFill>
                            <a:srgbClr val="595959"/>
                          </a:solidFill>
                          <a:latin typeface="Segoe UI"/>
                        </a:rPr>
                        <a:t>Módulos incluidos</a:t>
                      </a:r>
                    </a:p>
                  </a:txBody>
                  <a:tcPr/>
                </a:tc>
                <a:tc>
                  <a:txBody>
                    <a:bodyPr/>
                    <a:lstStyle/>
                    <a:p>
                      <a:r>
                        <a:rPr sz="1300" b="0">
                          <a:solidFill>
                            <a:srgbClr val="595959"/>
                          </a:solidFill>
                          <a:latin typeface="Segoe UI"/>
                        </a:rPr>
                        <a:t>Inventario, Ventas, Compras, Facturación y tienda en línea, todos oficiales</a:t>
                      </a:r>
                    </a:p>
                  </a:txBody>
                  <a:tcPr/>
                </a:tc>
                <a:tc>
                  <a:txBody>
                    <a:bodyPr/>
                    <a:lstStyle/>
                    <a:p>
                      <a:r>
                        <a:rPr sz="1300" b="0">
                          <a:solidFill>
                            <a:srgbClr val="595959"/>
                          </a:solidFill>
                          <a:latin typeface="Segoe UI"/>
                        </a:rPr>
                        <a:t>Inventario, Ventas, Compras y Contabilidad; comercio electrónico limitado</a:t>
                      </a:r>
                    </a:p>
                  </a:txBody>
                  <a:tcPr/>
                </a:tc>
              </a:tr>
              <a:tr h="438912">
                <a:tc>
                  <a:txBody>
                    <a:bodyPr/>
                    <a:lstStyle/>
                    <a:p>
                      <a:r>
                        <a:rPr sz="1300" b="0">
                          <a:solidFill>
                            <a:srgbClr val="595959"/>
                          </a:solidFill>
                          <a:latin typeface="Segoe UI"/>
                        </a:rPr>
                        <a:t>Infraestructura requerida</a:t>
                      </a:r>
                    </a:p>
                  </a:txBody>
                  <a:tcPr/>
                </a:tc>
                <a:tc>
                  <a:txBody>
                    <a:bodyPr/>
                    <a:lstStyle/>
                    <a:p>
                      <a:r>
                        <a:rPr sz="1300" b="0">
                          <a:solidFill>
                            <a:srgbClr val="595959"/>
                          </a:solidFill>
                          <a:latin typeface="Segoe UI"/>
                        </a:rPr>
                        <a:t>Imagen oficial de Docker con PostgreSQL 16, en un solo archivo de composición</a:t>
                      </a:r>
                    </a:p>
                  </a:txBody>
                  <a:tcPr/>
                </a:tc>
                <a:tc>
                  <a:txBody>
                    <a:bodyPr/>
                    <a:lstStyle/>
                    <a:p>
                      <a:r>
                        <a:rPr sz="1300" b="0">
                          <a:solidFill>
                            <a:srgbClr val="595959"/>
                          </a:solidFill>
                          <a:latin typeface="Segoe UI"/>
                        </a:rPr>
                        <a:t>MariaDB, Redis y servicios adicionales, con mayor consumo</a:t>
                      </a:r>
                    </a:p>
                  </a:txBody>
                  <a:tcPr/>
                </a:tc>
              </a:tr>
              <a:tr h="438912">
                <a:tc>
                  <a:txBody>
                    <a:bodyPr/>
                    <a:lstStyle/>
                    <a:p>
                      <a:r>
                        <a:rPr sz="1300" b="0">
                          <a:solidFill>
                            <a:srgbClr val="595959"/>
                          </a:solidFill>
                          <a:latin typeface="Segoe UI"/>
                        </a:rPr>
                        <a:t>Integración con CRM y web</a:t>
                      </a:r>
                    </a:p>
                  </a:txBody>
                  <a:tcPr/>
                </a:tc>
                <a:tc>
                  <a:txBody>
                    <a:bodyPr/>
                    <a:lstStyle/>
                    <a:p>
                      <a:r>
                        <a:rPr sz="1300" b="0">
                          <a:solidFill>
                            <a:srgbClr val="595959"/>
                          </a:solidFill>
                          <a:latin typeface="Segoe UI"/>
                        </a:rPr>
                        <a:t>Nativa: los tres comparten motor y base de datos</a:t>
                      </a:r>
                    </a:p>
                  </a:txBody>
                  <a:tcPr/>
                </a:tc>
                <a:tc>
                  <a:txBody>
                    <a:bodyPr/>
                    <a:lstStyle/>
                    <a:p>
                      <a:r>
                        <a:rPr sz="1300" b="0">
                          <a:solidFill>
                            <a:srgbClr val="595959"/>
                          </a:solidFill>
                          <a:latin typeface="Segoe UI"/>
                        </a:rPr>
                        <a:t>CRM incluido, pero la tienda exige un conector externo</a:t>
                      </a:r>
                    </a:p>
                  </a:txBody>
                  <a:tcPr/>
                </a:tc>
              </a:tr>
            </a:tbl>
          </a:graphicData>
        </a:graphic>
      </p:graphicFrame>
      <p:sp>
        <p:nvSpPr>
          <p:cNvPr id="6" name="TextBox 5"/>
          <p:cNvSpPr txBox="1"/>
          <p:nvPr/>
        </p:nvSpPr>
        <p:spPr>
          <a:xfrm>
            <a:off x="822960" y="4754880"/>
            <a:ext cx="10515600" cy="1097280"/>
          </a:xfrm>
          <a:prstGeom prst="rect">
            <a:avLst/>
          </a:prstGeom>
          <a:solidFill>
            <a:srgbClr val="F2F2F2"/>
          </a:solidFill>
          <a:ln>
            <a:noFill/>
          </a:ln>
        </p:spPr>
        <p:txBody>
          <a:bodyPr wrap="square">
            <a:spAutoFit/>
          </a:bodyPr>
          <a:lstStyle/>
          <a:p>
            <a:pPr algn="l">
              <a:spcAft>
                <a:spcPts val="600"/>
              </a:spcAft>
            </a:pPr>
            <a:r>
              <a:rPr sz="1800" b="1">
                <a:solidFill>
                  <a:srgbClr val="1F3A5F"/>
                </a:solidFill>
                <a:latin typeface="Segoe UI"/>
              </a:rPr>
              <a:t>Elegimos: Odoo 18.0 Community  ·  Porque: es el único que trae la tienda en línea como aplicación oficial, sin sincronizar productos, precios y existencias con una plataforma aparte.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Selección del CRM</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Otros 15 puntos de la rúbrica</a:t>
            </a:r>
          </a:p>
        </p:txBody>
      </p:sp>
      <p:graphicFrame>
        <p:nvGraphicFramePr>
          <p:cNvPr id="5" name="Table 4"/>
          <p:cNvGraphicFramePr>
            <a:graphicFrameLocks noGrp="1"/>
          </p:cNvGraphicFramePr>
          <p:nvPr/>
        </p:nvGraphicFramePr>
        <p:xfrm>
          <a:off x="822960" y="2011680"/>
          <a:ext cx="10515600" cy="2194560"/>
        </p:xfrm>
        <a:graphic>
          <a:graphicData uri="http://schemas.openxmlformats.org/drawingml/2006/table">
            <a:tbl>
              <a:tblPr firstRow="1" bandRow="1">
                <a:tableStyleId>{5C22544A-7EE6-4342-B048-85BDC9FD1C3A}</a:tableStyleId>
              </a:tblPr>
              <a:tblGrid>
                <a:gridCol w="3154680"/>
                <a:gridCol w="3680460"/>
                <a:gridCol w="3680460"/>
              </a:tblGrid>
              <a:tr h="438912">
                <a:tc>
                  <a:txBody>
                    <a:bodyPr/>
                    <a:lstStyle/>
                    <a:p>
                      <a:r>
                        <a:rPr sz="1400" b="1">
                          <a:solidFill>
                            <a:srgbClr val="FFFFFF"/>
                          </a:solidFill>
                          <a:latin typeface="Segoe UI"/>
                        </a:rPr>
                        <a:t>Criterio</a:t>
                      </a:r>
                    </a:p>
                  </a:txBody>
                  <a:tcPr>
                    <a:solidFill>
                      <a:srgbClr val="1F3A5F"/>
                    </a:solidFill>
                  </a:tcPr>
                </a:tc>
                <a:tc>
                  <a:txBody>
                    <a:bodyPr/>
                    <a:lstStyle/>
                    <a:p>
                      <a:r>
                        <a:rPr sz="1400" b="1">
                          <a:solidFill>
                            <a:srgbClr val="FFFFFF"/>
                          </a:solidFill>
                          <a:latin typeface="Segoe UI"/>
                        </a:rPr>
                        <a:t>Odoo CRM</a:t>
                      </a:r>
                    </a:p>
                  </a:txBody>
                  <a:tcPr>
                    <a:solidFill>
                      <a:srgbClr val="1F3A5F"/>
                    </a:solidFill>
                  </a:tcPr>
                </a:tc>
                <a:tc>
                  <a:txBody>
                    <a:bodyPr/>
                    <a:lstStyle/>
                    <a:p>
                      <a:r>
                        <a:rPr sz="1400" b="1">
                          <a:solidFill>
                            <a:srgbClr val="FFFFFF"/>
                          </a:solidFill>
                          <a:latin typeface="Segoe UI"/>
                        </a:rPr>
                        <a:t>Zoho CRM</a:t>
                      </a:r>
                    </a:p>
                  </a:txBody>
                  <a:tcPr>
                    <a:solidFill>
                      <a:srgbClr val="1F3A5F"/>
                    </a:solidFill>
                  </a:tcPr>
                </a:tc>
              </a:tr>
              <a:tr h="438912">
                <a:tc>
                  <a:txBody>
                    <a:bodyPr/>
                    <a:lstStyle/>
                    <a:p>
                      <a:r>
                        <a:rPr sz="1300" b="0">
                          <a:solidFill>
                            <a:srgbClr val="595959"/>
                          </a:solidFill>
                          <a:latin typeface="Segoe UI"/>
                        </a:rPr>
                        <a:t>Licencia y costo</a:t>
                      </a:r>
                    </a:p>
                  </a:txBody>
                  <a:tcPr/>
                </a:tc>
                <a:tc>
                  <a:txBody>
                    <a:bodyPr/>
                    <a:lstStyle/>
                    <a:p>
                      <a:r>
                        <a:rPr sz="1300" b="0">
                          <a:solidFill>
                            <a:srgbClr val="595959"/>
                          </a:solidFill>
                          <a:latin typeface="Segoe UI"/>
                        </a:rPr>
                        <a:t>Incluido en Odoo Community, sin costo</a:t>
                      </a:r>
                    </a:p>
                  </a:txBody>
                  <a:tcPr/>
                </a:tc>
                <a:tc>
                  <a:txBody>
                    <a:bodyPr/>
                    <a:lstStyle/>
                    <a:p>
                      <a:r>
                        <a:rPr sz="1300" b="0">
                          <a:solidFill>
                            <a:srgbClr val="595959"/>
                          </a:solidFill>
                          <a:latin typeface="Segoe UI"/>
                        </a:rPr>
                        <a:t>Freemium; el plan de pago parte de unos USD 14 por usuario al mes</a:t>
                      </a:r>
                    </a:p>
                  </a:txBody>
                  <a:tcPr/>
                </a:tc>
              </a:tr>
              <a:tr h="438912">
                <a:tc>
                  <a:txBody>
                    <a:bodyPr/>
                    <a:lstStyle/>
                    <a:p>
                      <a:r>
                        <a:rPr sz="1300" b="0">
                          <a:solidFill>
                            <a:srgbClr val="595959"/>
                          </a:solidFill>
                          <a:latin typeface="Segoe UI"/>
                        </a:rPr>
                        <a:t>Pipeline de ventas</a:t>
                      </a:r>
                    </a:p>
                  </a:txBody>
                  <a:tcPr/>
                </a:tc>
                <a:tc>
                  <a:txBody>
                    <a:bodyPr/>
                    <a:lstStyle/>
                    <a:p>
                      <a:r>
                        <a:rPr sz="1300" b="0">
                          <a:solidFill>
                            <a:srgbClr val="595959"/>
                          </a:solidFill>
                          <a:latin typeface="Segoe UI"/>
                        </a:rPr>
                        <a:t>Kanban con etapas personalizables y actividades</a:t>
                      </a:r>
                    </a:p>
                  </a:txBody>
                  <a:tcPr/>
                </a:tc>
                <a:tc>
                  <a:txBody>
                    <a:bodyPr/>
                    <a:lstStyle/>
                    <a:p>
                      <a:r>
                        <a:rPr sz="1300" b="0">
                          <a:solidFill>
                            <a:srgbClr val="595959"/>
                          </a:solidFill>
                          <a:latin typeface="Segoe UI"/>
                        </a:rPr>
                        <a:t>Pipeline y contactos; los flujos de trabajo son de pago</a:t>
                      </a:r>
                    </a:p>
                  </a:txBody>
                  <a:tcPr/>
                </a:tc>
              </a:tr>
              <a:tr h="438912">
                <a:tc>
                  <a:txBody>
                    <a:bodyPr/>
                    <a:lstStyle/>
                    <a:p>
                      <a:r>
                        <a:rPr sz="1300" b="0">
                          <a:solidFill>
                            <a:srgbClr val="595959"/>
                          </a:solidFill>
                          <a:latin typeface="Segoe UI"/>
                        </a:rPr>
                        <a:t>Campañas de correo</a:t>
                      </a:r>
                    </a:p>
                  </a:txBody>
                  <a:tcPr/>
                </a:tc>
                <a:tc>
                  <a:txBody>
                    <a:bodyPr/>
                    <a:lstStyle/>
                    <a:p>
                      <a:r>
                        <a:rPr sz="1300" b="0">
                          <a:solidFill>
                            <a:srgbClr val="595959"/>
                          </a:solidFill>
                          <a:latin typeface="Segoe UI"/>
                        </a:rPr>
                        <a:t>Nativas, sobre la misma base de clientes del ERP</a:t>
                      </a:r>
                    </a:p>
                  </a:txBody>
                  <a:tcPr/>
                </a:tc>
                <a:tc>
                  <a:txBody>
                    <a:bodyPr/>
                    <a:lstStyle/>
                    <a:p>
                      <a:r>
                        <a:rPr sz="1300" b="0">
                          <a:solidFill>
                            <a:srgbClr val="595959"/>
                          </a:solidFill>
                          <a:latin typeface="Segoe UI"/>
                        </a:rPr>
                        <a:t>Incluidas, con límite de envíos en el plan gratuito</a:t>
                      </a:r>
                    </a:p>
                  </a:txBody>
                  <a:tcPr/>
                </a:tc>
              </a:tr>
              <a:tr h="438912">
                <a:tc>
                  <a:txBody>
                    <a:bodyPr/>
                    <a:lstStyle/>
                    <a:p>
                      <a:r>
                        <a:rPr sz="1300" b="0">
                          <a:solidFill>
                            <a:srgbClr val="595959"/>
                          </a:solidFill>
                          <a:latin typeface="Segoe UI"/>
                        </a:rPr>
                        <a:t>Integración con el ERP</a:t>
                      </a:r>
                    </a:p>
                  </a:txBody>
                  <a:tcPr/>
                </a:tc>
                <a:tc>
                  <a:txBody>
                    <a:bodyPr/>
                    <a:lstStyle/>
                    <a:p>
                      <a:r>
                        <a:rPr sz="1300" b="0">
                          <a:solidFill>
                            <a:srgbClr val="595959"/>
                          </a:solidFill>
                          <a:latin typeface="Segoe UI"/>
                        </a:rPr>
                        <a:t>Nativa: comparte PostgreSQL. El registro del sitio ya es contacto del CRM</a:t>
                      </a:r>
                    </a:p>
                  </a:txBody>
                  <a:tcPr/>
                </a:tc>
                <a:tc>
                  <a:txBody>
                    <a:bodyPr/>
                    <a:lstStyle/>
                    <a:p>
                      <a:r>
                        <a:rPr sz="1300" b="0">
                          <a:solidFill>
                            <a:srgbClr val="595959"/>
                          </a:solidFill>
                          <a:latin typeface="Segoe UI"/>
                        </a:rPr>
                        <a:t>Por API o conector de terceros; hay que mantener la sincronización</a:t>
                      </a:r>
                    </a:p>
                  </a:txBody>
                  <a:tcPr/>
                </a:tc>
              </a:tr>
            </a:tbl>
          </a:graphicData>
        </a:graphic>
      </p:graphicFrame>
      <p:sp>
        <p:nvSpPr>
          <p:cNvPr id="6" name="TextBox 5"/>
          <p:cNvSpPr txBox="1"/>
          <p:nvPr/>
        </p:nvSpPr>
        <p:spPr>
          <a:xfrm>
            <a:off x="822960" y="4754880"/>
            <a:ext cx="10515600" cy="1097280"/>
          </a:xfrm>
          <a:prstGeom prst="rect">
            <a:avLst/>
          </a:prstGeom>
          <a:solidFill>
            <a:srgbClr val="F2F2F2"/>
          </a:solidFill>
          <a:ln>
            <a:noFill/>
          </a:ln>
        </p:spPr>
        <p:txBody>
          <a:bodyPr wrap="square">
            <a:spAutoFit/>
          </a:bodyPr>
          <a:lstStyle/>
          <a:p>
            <a:pPr algn="l">
              <a:spcAft>
                <a:spcPts val="600"/>
              </a:spcAft>
            </a:pPr>
            <a:r>
              <a:rPr sz="1800" b="1">
                <a:solidFill>
                  <a:srgbClr val="1F3A5F"/>
                </a:solidFill>
                <a:latin typeface="Segoe UI"/>
              </a:rPr>
              <a:t>Elegimos: Odoo CRM  ·  Porque: cero integración que construir y mantener. Una cotización ganada se convierte en orden de venta con descuento de inventario, sin middleware de por medio.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Infraestructura</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Dónde vive el sistema y cuánto cuesta</a:t>
            </a:r>
          </a:p>
        </p:txBody>
      </p:sp>
      <p:graphicFrame>
        <p:nvGraphicFramePr>
          <p:cNvPr id="5" name="Table 4"/>
          <p:cNvGraphicFramePr>
            <a:graphicFrameLocks noGrp="1"/>
          </p:cNvGraphicFramePr>
          <p:nvPr/>
        </p:nvGraphicFramePr>
        <p:xfrm>
          <a:off x="822960" y="2011680"/>
          <a:ext cx="10515600" cy="3108960"/>
        </p:xfrm>
        <a:graphic>
          <a:graphicData uri="http://schemas.openxmlformats.org/drawingml/2006/table">
            <a:tbl>
              <a:tblPr firstRow="1" bandRow="1">
                <a:tableStyleId>{5C22544A-7EE6-4342-B048-85BDC9FD1C3A}</a:tableStyleId>
              </a:tblPr>
              <a:tblGrid>
                <a:gridCol w="3575304"/>
                <a:gridCol w="6940296"/>
              </a:tblGrid>
              <a:tr h="444137">
                <a:tc>
                  <a:txBody>
                    <a:bodyPr/>
                    <a:lstStyle/>
                    <a:p>
                      <a:r>
                        <a:rPr sz="1400" b="1">
                          <a:solidFill>
                            <a:srgbClr val="FFFFFF"/>
                          </a:solidFill>
                          <a:latin typeface="Segoe UI"/>
                        </a:rPr>
                        <a:t>Componente</a:t>
                      </a:r>
                    </a:p>
                  </a:txBody>
                  <a:tcPr>
                    <a:solidFill>
                      <a:srgbClr val="1F3A5F"/>
                    </a:solidFill>
                  </a:tcPr>
                </a:tc>
                <a:tc>
                  <a:txBody>
                    <a:bodyPr/>
                    <a:lstStyle/>
                    <a:p>
                      <a:r>
                        <a:rPr sz="1400" b="1">
                          <a:solidFill>
                            <a:srgbClr val="FFFFFF"/>
                          </a:solidFill>
                          <a:latin typeface="Segoe UI"/>
                        </a:rPr>
                        <a:t>Elección</a:t>
                      </a:r>
                    </a:p>
                  </a:txBody>
                  <a:tcPr>
                    <a:solidFill>
                      <a:srgbClr val="1F3A5F"/>
                    </a:solidFill>
                  </a:tcPr>
                </a:tc>
              </a:tr>
              <a:tr h="444137">
                <a:tc>
                  <a:txBody>
                    <a:bodyPr/>
                    <a:lstStyle/>
                    <a:p>
                      <a:r>
                        <a:rPr sz="1300" b="0">
                          <a:solidFill>
                            <a:srgbClr val="595959"/>
                          </a:solidFill>
                          <a:latin typeface="Segoe UI"/>
                        </a:rPr>
                        <a:t>ERP</a:t>
                      </a:r>
                    </a:p>
                  </a:txBody>
                  <a:tcPr/>
                </a:tc>
                <a:tc>
                  <a:txBody>
                    <a:bodyPr/>
                    <a:lstStyle/>
                    <a:p>
                      <a:r>
                        <a:rPr sz="1300" b="0">
                          <a:solidFill>
                            <a:srgbClr val="595959"/>
                          </a:solidFill>
                          <a:latin typeface="Segoe UI"/>
                        </a:rPr>
                        <a:t>Odoo Community 18.0, imagen oficial en contenedor</a:t>
                      </a:r>
                    </a:p>
                  </a:txBody>
                  <a:tcPr/>
                </a:tc>
              </a:tr>
              <a:tr h="444137">
                <a:tc>
                  <a:txBody>
                    <a:bodyPr/>
                    <a:lstStyle/>
                    <a:p>
                      <a:r>
                        <a:rPr sz="1300" b="0">
                          <a:solidFill>
                            <a:srgbClr val="595959"/>
                          </a:solidFill>
                          <a:latin typeface="Segoe UI"/>
                        </a:rPr>
                        <a:t>CRM</a:t>
                      </a:r>
                    </a:p>
                  </a:txBody>
                  <a:tcPr/>
                </a:tc>
                <a:tc>
                  <a:txBody>
                    <a:bodyPr/>
                    <a:lstStyle/>
                    <a:p>
                      <a:r>
                        <a:rPr sz="1300" b="0">
                          <a:solidFill>
                            <a:srgbClr val="595959"/>
                          </a:solidFill>
                          <a:latin typeface="Segoe UI"/>
                        </a:rPr>
                        <a:t>Odoo CRM, sobre la misma instalación y la misma base</a:t>
                      </a:r>
                    </a:p>
                  </a:txBody>
                  <a:tcPr/>
                </a:tc>
              </a:tr>
              <a:tr h="444137">
                <a:tc>
                  <a:txBody>
                    <a:bodyPr/>
                    <a:lstStyle/>
                    <a:p>
                      <a:r>
                        <a:rPr sz="1300" b="0">
                          <a:solidFill>
                            <a:srgbClr val="595959"/>
                          </a:solidFill>
                          <a:latin typeface="Segoe UI"/>
                        </a:rPr>
                        <a:t>Base de datos</a:t>
                      </a:r>
                    </a:p>
                  </a:txBody>
                  <a:tcPr/>
                </a:tc>
                <a:tc>
                  <a:txBody>
                    <a:bodyPr/>
                    <a:lstStyle/>
                    <a:p>
                      <a:r>
                        <a:rPr sz="1300" b="0">
                          <a:solidFill>
                            <a:srgbClr val="595959"/>
                          </a:solidFill>
                          <a:latin typeface="Segoe UI"/>
                        </a:rPr>
                        <a:t>PostgreSQL 16.15, contenedor propio con volumen persistente</a:t>
                      </a:r>
                    </a:p>
                  </a:txBody>
                  <a:tcPr/>
                </a:tc>
              </a:tr>
              <a:tr h="444137">
                <a:tc>
                  <a:txBody>
                    <a:bodyPr/>
                    <a:lstStyle/>
                    <a:p>
                      <a:r>
                        <a:rPr sz="1300" b="0">
                          <a:solidFill>
                            <a:srgbClr val="595959"/>
                          </a:solidFill>
                          <a:latin typeface="Segoe UI"/>
                        </a:rPr>
                        <a:t>BI</a:t>
                      </a:r>
                    </a:p>
                  </a:txBody>
                  <a:tcPr/>
                </a:tc>
                <a:tc>
                  <a:txBody>
                    <a:bodyPr/>
                    <a:lstStyle/>
                    <a:p>
                      <a:r>
                        <a:rPr sz="1300" b="0">
                          <a:solidFill>
                            <a:srgbClr val="595959"/>
                          </a:solidFill>
                          <a:latin typeface="Segoe UI"/>
                        </a:rPr>
                        <a:t>Power BI Desktop</a:t>
                      </a:r>
                    </a:p>
                  </a:txBody>
                  <a:tcPr/>
                </a:tc>
              </a:tr>
              <a:tr h="444137">
                <a:tc>
                  <a:txBody>
                    <a:bodyPr/>
                    <a:lstStyle/>
                    <a:p>
                      <a:r>
                        <a:rPr sz="1300" b="0">
                          <a:solidFill>
                            <a:srgbClr val="595959"/>
                          </a:solidFill>
                          <a:latin typeface="Segoe UI"/>
                        </a:rPr>
                        <a:t>Servidor</a:t>
                      </a:r>
                    </a:p>
                  </a:txBody>
                  <a:tcPr/>
                </a:tc>
                <a:tc>
                  <a:txBody>
                    <a:bodyPr/>
                    <a:lstStyle/>
                    <a:p>
                      <a:r>
                        <a:rPr sz="1300" b="0">
                          <a:solidFill>
                            <a:srgbClr val="595959"/>
                          </a:solidFill>
                          <a:latin typeface="Segoe UI"/>
                        </a:rPr>
                        <a:t>Local con Docker Compose: Windows 11, Docker Engine 28.3.2</a:t>
                      </a:r>
                    </a:p>
                  </a:txBody>
                  <a:tcPr/>
                </a:tc>
              </a:tr>
              <a:tr h="444138">
                <a:tc>
                  <a:txBody>
                    <a:bodyPr/>
                    <a:lstStyle/>
                    <a:p>
                      <a:r>
                        <a:rPr sz="1300" b="0">
                          <a:solidFill>
                            <a:srgbClr val="595959"/>
                          </a:solidFill>
                          <a:latin typeface="Segoe UI"/>
                        </a:rPr>
                        <a:t>Presupuesto pre-operativo</a:t>
                      </a:r>
                    </a:p>
                  </a:txBody>
                  <a:tcPr/>
                </a:tc>
                <a:tc>
                  <a:txBody>
                    <a:bodyPr/>
                    <a:lstStyle/>
                    <a:p>
                      <a:r>
                        <a:rPr sz="1300" b="0">
                          <a:solidFill>
                            <a:srgbClr val="595959"/>
                          </a:solidFill>
                          <a:latin typeface="Segoe UI"/>
                        </a:rPr>
                        <a:t>Q 67,100</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Instalación</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Sistemas montados y validados</a:t>
            </a:r>
          </a:p>
        </p:txBody>
      </p:sp>
      <p:sp>
        <p:nvSpPr>
          <p:cNvPr id="7" name="TextBox 6"/>
          <p:cNvSpPr txBox="1"/>
          <p:nvPr/>
        </p:nvSpPr>
        <p:spPr>
          <a:xfrm>
            <a:off x="822960" y="5577840"/>
            <a:ext cx="10515600" cy="548640"/>
          </a:xfrm>
          <a:prstGeom prst="rect">
            <a:avLst/>
          </a:prstGeom>
          <a:noFill/>
        </p:spPr>
        <p:txBody>
          <a:bodyPr wrap="square">
            <a:spAutoFit/>
          </a:bodyPr>
          <a:lstStyle/>
          <a:p>
            <a:pPr algn="l">
              <a:spcAft>
                <a:spcPts val="600"/>
              </a:spcAft>
            </a:pPr>
            <a:r>
              <a:rPr sz="1500" b="0">
                <a:solidFill>
                  <a:srgbClr val="1F3A5F"/>
                </a:solidFill>
                <a:latin typeface="Segoe UI"/>
              </a:rPr>
              <a:t>Manuales completos con captura en cada paso crítico  ·  Videos de instalación en Drive</a:t>
            </a:r>
          </a:p>
        </p:txBody>
      </p:sp>
      <p:pic>
        <p:nvPicPr>
          <p:cNvPr id="8" name="Picture 7" descr="image11.png"/>
          <p:cNvPicPr>
            <a:picLocks noChangeAspect="1"/>
          </p:cNvPicPr>
          <p:nvPr/>
        </p:nvPicPr>
        <p:blipFill>
          <a:blip r:embed="rId3"/>
          <a:stretch>
            <a:fillRect/>
          </a:stretch>
        </p:blipFill>
        <p:spPr>
          <a:xfrm>
            <a:off x="822960" y="2234045"/>
            <a:ext cx="5029200" cy="2847109"/>
          </a:xfrm>
          <a:prstGeom prst="rect">
            <a:avLst/>
          </a:prstGeom>
        </p:spPr>
      </p:pic>
      <p:pic>
        <p:nvPicPr>
          <p:cNvPr id="9" name="Picture 8" descr="59ec9d435e4a3cc1480464a59b0a1861ae8a1a85.png"/>
          <p:cNvPicPr>
            <a:picLocks noChangeAspect="1"/>
          </p:cNvPicPr>
          <p:nvPr/>
        </p:nvPicPr>
        <p:blipFill>
          <a:blip r:embed="rId4"/>
          <a:stretch>
            <a:fillRect/>
          </a:stretch>
        </p:blipFill>
        <p:spPr>
          <a:xfrm>
            <a:off x="6309360" y="2190063"/>
            <a:ext cx="5029200" cy="293507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Mapa de flujo de procesos</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El ciclo de compra de extremo a extremo</a:t>
            </a:r>
          </a:p>
        </p:txBody>
      </p:sp>
      <p:pic>
        <p:nvPicPr>
          <p:cNvPr id="5" name="Picture 4" descr="mapa_flujo_procesos.png"/>
          <p:cNvPicPr>
            <a:picLocks noChangeAspect="1"/>
          </p:cNvPicPr>
          <p:nvPr/>
        </p:nvPicPr>
        <p:blipFill>
          <a:blip r:embed="rId3"/>
          <a:stretch>
            <a:fillRect/>
          </a:stretch>
        </p:blipFill>
        <p:spPr>
          <a:xfrm>
            <a:off x="666206" y="1828800"/>
            <a:ext cx="10920548" cy="40233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Cómo vamos a medir</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5 KPIs y la cadena numérica</a:t>
            </a:r>
          </a:p>
        </p:txBody>
      </p:sp>
      <p:graphicFrame>
        <p:nvGraphicFramePr>
          <p:cNvPr id="5" name="Table 4"/>
          <p:cNvGraphicFramePr>
            <a:graphicFrameLocks noGrp="1"/>
          </p:cNvGraphicFramePr>
          <p:nvPr/>
        </p:nvGraphicFramePr>
        <p:xfrm>
          <a:off x="822960" y="2011680"/>
          <a:ext cx="10515600" cy="2651760"/>
        </p:xfrm>
        <a:graphic>
          <a:graphicData uri="http://schemas.openxmlformats.org/drawingml/2006/table">
            <a:tbl>
              <a:tblPr firstRow="1" bandRow="1">
                <a:tableStyleId>{5C22544A-7EE6-4342-B048-85BDC9FD1C3A}</a:tableStyleId>
              </a:tblPr>
              <a:tblGrid>
                <a:gridCol w="736092"/>
                <a:gridCol w="6624828"/>
                <a:gridCol w="3154680"/>
              </a:tblGrid>
              <a:tr h="441960">
                <a:tc>
                  <a:txBody>
                    <a:bodyPr/>
                    <a:lstStyle/>
                    <a:p>
                      <a:r>
                        <a:rPr sz="1400" b="1">
                          <a:solidFill>
                            <a:srgbClr val="FFFFFF"/>
                          </a:solidFill>
                          <a:latin typeface="Segoe UI"/>
                        </a:rPr>
                        <a:t>#</a:t>
                      </a:r>
                    </a:p>
                  </a:txBody>
                  <a:tcPr>
                    <a:solidFill>
                      <a:srgbClr val="1F3A5F"/>
                    </a:solidFill>
                  </a:tcPr>
                </a:tc>
                <a:tc>
                  <a:txBody>
                    <a:bodyPr/>
                    <a:lstStyle/>
                    <a:p>
                      <a:r>
                        <a:rPr sz="1400" b="1">
                          <a:solidFill>
                            <a:srgbClr val="FFFFFF"/>
                          </a:solidFill>
                          <a:latin typeface="Segoe UI"/>
                        </a:rPr>
                        <a:t>KPI</a:t>
                      </a:r>
                    </a:p>
                  </a:txBody>
                  <a:tcPr>
                    <a:solidFill>
                      <a:srgbClr val="1F3A5F"/>
                    </a:solidFill>
                  </a:tcPr>
                </a:tc>
                <a:tc>
                  <a:txBody>
                    <a:bodyPr/>
                    <a:lstStyle/>
                    <a:p>
                      <a:r>
                        <a:rPr sz="1400" b="1">
                          <a:solidFill>
                            <a:srgbClr val="FFFFFF"/>
                          </a:solidFill>
                          <a:latin typeface="Segoe UI"/>
                        </a:rPr>
                        <a:t>Meta</a:t>
                      </a:r>
                    </a:p>
                  </a:txBody>
                  <a:tcPr>
                    <a:solidFill>
                      <a:srgbClr val="1F3A5F"/>
                    </a:solidFill>
                  </a:tcPr>
                </a:tc>
              </a:tr>
              <a:tr h="441960">
                <a:tc>
                  <a:txBody>
                    <a:bodyPr/>
                    <a:lstStyle/>
                    <a:p>
                      <a:r>
                        <a:rPr sz="1300" b="0">
                          <a:solidFill>
                            <a:srgbClr val="595959"/>
                          </a:solidFill>
                          <a:latin typeface="Segoe UI"/>
                        </a:rPr>
                        <a:t>1</a:t>
                      </a:r>
                    </a:p>
                  </a:txBody>
                  <a:tcPr/>
                </a:tc>
                <a:tc>
                  <a:txBody>
                    <a:bodyPr/>
                    <a:lstStyle/>
                    <a:p>
                      <a:r>
                        <a:rPr sz="1300" b="0">
                          <a:solidFill>
                            <a:srgbClr val="595959"/>
                          </a:solidFill>
                          <a:latin typeface="Segoe UI"/>
                        </a:rPr>
                        <a:t>Tasa de conversión del sitio</a:t>
                      </a:r>
                    </a:p>
                  </a:txBody>
                  <a:tcPr/>
                </a:tc>
                <a:tc>
                  <a:txBody>
                    <a:bodyPr/>
                    <a:lstStyle/>
                    <a:p>
                      <a:r>
                        <a:rPr sz="1300" b="0">
                          <a:solidFill>
                            <a:srgbClr val="595959"/>
                          </a:solidFill>
                          <a:latin typeface="Segoe UI"/>
                        </a:rPr>
                        <a:t>2.5%</a:t>
                      </a:r>
                    </a:p>
                  </a:txBody>
                  <a:tcPr/>
                </a:tc>
              </a:tr>
              <a:tr h="441960">
                <a:tc>
                  <a:txBody>
                    <a:bodyPr/>
                    <a:lstStyle/>
                    <a:p>
                      <a:r>
                        <a:rPr sz="1300" b="0">
                          <a:solidFill>
                            <a:srgbClr val="595959"/>
                          </a:solidFill>
                          <a:latin typeface="Segoe UI"/>
                        </a:rPr>
                        <a:t>2</a:t>
                      </a:r>
                    </a:p>
                  </a:txBody>
                  <a:tcPr/>
                </a:tc>
                <a:tc>
                  <a:txBody>
                    <a:bodyPr/>
                    <a:lstStyle/>
                    <a:p>
                      <a:r>
                        <a:rPr sz="1300" b="0">
                          <a:solidFill>
                            <a:srgbClr val="595959"/>
                          </a:solidFill>
                          <a:latin typeface="Segoe UI"/>
                        </a:rPr>
                        <a:t>Ticket promedio</a:t>
                      </a:r>
                    </a:p>
                  </a:txBody>
                  <a:tcPr/>
                </a:tc>
                <a:tc>
                  <a:txBody>
                    <a:bodyPr/>
                    <a:lstStyle/>
                    <a:p>
                      <a:r>
                        <a:rPr sz="1300" b="0">
                          <a:solidFill>
                            <a:srgbClr val="595959"/>
                          </a:solidFill>
                          <a:latin typeface="Segoe UI"/>
                        </a:rPr>
                        <a:t>Q 285</a:t>
                      </a:r>
                    </a:p>
                  </a:txBody>
                  <a:tcPr/>
                </a:tc>
              </a:tr>
              <a:tr h="441960">
                <a:tc>
                  <a:txBody>
                    <a:bodyPr/>
                    <a:lstStyle/>
                    <a:p>
                      <a:r>
                        <a:rPr sz="1300" b="0">
                          <a:solidFill>
                            <a:srgbClr val="595959"/>
                          </a:solidFill>
                          <a:latin typeface="Segoe UI"/>
                        </a:rPr>
                        <a:t>3</a:t>
                      </a:r>
                    </a:p>
                  </a:txBody>
                  <a:tcPr/>
                </a:tc>
                <a:tc>
                  <a:txBody>
                    <a:bodyPr/>
                    <a:lstStyle/>
                    <a:p>
                      <a:r>
                        <a:rPr sz="1300" b="0">
                          <a:solidFill>
                            <a:srgbClr val="595959"/>
                          </a:solidFill>
                          <a:latin typeface="Segoe UI"/>
                        </a:rPr>
                        <a:t>Entregas metropolitanas en menos de 24 h</a:t>
                      </a:r>
                    </a:p>
                  </a:txBody>
                  <a:tcPr/>
                </a:tc>
                <a:tc>
                  <a:txBody>
                    <a:bodyPr/>
                    <a:lstStyle/>
                    <a:p>
                      <a:r>
                        <a:rPr sz="1300" b="0">
                          <a:solidFill>
                            <a:srgbClr val="595959"/>
                          </a:solidFill>
                          <a:latin typeface="Segoe UI"/>
                        </a:rPr>
                        <a:t>90%</a:t>
                      </a:r>
                    </a:p>
                  </a:txBody>
                  <a:tcPr/>
                </a:tc>
              </a:tr>
              <a:tr h="441960">
                <a:tc>
                  <a:txBody>
                    <a:bodyPr/>
                    <a:lstStyle/>
                    <a:p>
                      <a:r>
                        <a:rPr sz="1300" b="0">
                          <a:solidFill>
                            <a:srgbClr val="595959"/>
                          </a:solidFill>
                          <a:latin typeface="Segoe UI"/>
                        </a:rPr>
                        <a:t>4</a:t>
                      </a:r>
                    </a:p>
                  </a:txBody>
                  <a:tcPr/>
                </a:tc>
                <a:tc>
                  <a:txBody>
                    <a:bodyPr/>
                    <a:lstStyle/>
                    <a:p>
                      <a:r>
                        <a:rPr sz="1300" b="0">
                          <a:solidFill>
                            <a:srgbClr val="595959"/>
                          </a:solidFill>
                          <a:latin typeface="Segoe UI"/>
                        </a:rPr>
                        <a:t>Satisfacción postventa (CSAT)</a:t>
                      </a:r>
                    </a:p>
                  </a:txBody>
                  <a:tcPr/>
                </a:tc>
                <a:tc>
                  <a:txBody>
                    <a:bodyPr/>
                    <a:lstStyle/>
                    <a:p>
                      <a:r>
                        <a:rPr sz="1300" b="0">
                          <a:solidFill>
                            <a:srgbClr val="595959"/>
                          </a:solidFill>
                          <a:latin typeface="Segoe UI"/>
                        </a:rPr>
                        <a:t>≥ 4.3 de 5</a:t>
                      </a:r>
                    </a:p>
                  </a:txBody>
                  <a:tcPr/>
                </a:tc>
              </a:tr>
              <a:tr h="441960">
                <a:tc>
                  <a:txBody>
                    <a:bodyPr/>
                    <a:lstStyle/>
                    <a:p>
                      <a:r>
                        <a:rPr sz="1300" b="0">
                          <a:solidFill>
                            <a:srgbClr val="595959"/>
                          </a:solidFill>
                          <a:latin typeface="Segoe UI"/>
                        </a:rPr>
                        <a:t>5</a:t>
                      </a:r>
                    </a:p>
                  </a:txBody>
                  <a:tcPr/>
                </a:tc>
                <a:tc>
                  <a:txBody>
                    <a:bodyPr/>
                    <a:lstStyle/>
                    <a:p>
                      <a:r>
                        <a:rPr sz="1300" b="0">
                          <a:solidFill>
                            <a:srgbClr val="595959"/>
                          </a:solidFill>
                          <a:latin typeface="Segoe UI"/>
                        </a:rPr>
                        <a:t>Quiebre de stock</a:t>
                      </a:r>
                    </a:p>
                  </a:txBody>
                  <a:tcPr/>
                </a:tc>
                <a:tc>
                  <a:txBody>
                    <a:bodyPr/>
                    <a:lstStyle/>
                    <a:p>
                      <a:r>
                        <a:rPr sz="1300" b="0">
                          <a:solidFill>
                            <a:srgbClr val="595959"/>
                          </a:solidFill>
                          <a:latin typeface="Segoe UI"/>
                        </a:rPr>
                        <a:t>≤ 5%</a:t>
                      </a:r>
                    </a:p>
                  </a:txBody>
                  <a:tcPr/>
                </a:tc>
              </a:tr>
            </a:tbl>
          </a:graphicData>
        </a:graphic>
      </p:graphicFrame>
      <p:sp>
        <p:nvSpPr>
          <p:cNvPr id="6" name="TextBox 5"/>
          <p:cNvSpPr txBox="1"/>
          <p:nvPr/>
        </p:nvSpPr>
        <p:spPr>
          <a:xfrm>
            <a:off x="822960" y="5029200"/>
            <a:ext cx="10515600" cy="822960"/>
          </a:xfrm>
          <a:prstGeom prst="rect">
            <a:avLst/>
          </a:prstGeom>
          <a:solidFill>
            <a:srgbClr val="F2F2F2"/>
          </a:solidFill>
          <a:ln>
            <a:noFill/>
          </a:ln>
        </p:spPr>
        <p:txBody>
          <a:bodyPr wrap="square">
            <a:spAutoFit/>
          </a:bodyPr>
          <a:lstStyle/>
          <a:p>
            <a:pPr algn="ctr">
              <a:spcAft>
                <a:spcPts val="600"/>
              </a:spcAft>
            </a:pPr>
            <a:r>
              <a:rPr sz="2000" b="1">
                <a:solidFill>
                  <a:srgbClr val="1F3A5F"/>
                </a:solidFill>
                <a:latin typeface="Segoe UI"/>
              </a:rPr>
              <a:t>8,000 visitas  →  2.5%  →  200 pedidos  →  Q 57,000 en el trimestre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Lo que sigue</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Fases 2 y 3</a:t>
            </a:r>
          </a:p>
        </p:txBody>
      </p:sp>
      <p:sp>
        <p:nvSpPr>
          <p:cNvPr id="5" name="TextBox 4"/>
          <p:cNvSpPr txBox="1"/>
          <p:nvPr/>
        </p:nvSpPr>
        <p:spPr>
          <a:xfrm>
            <a:off x="822960" y="2103120"/>
            <a:ext cx="10515600" cy="4206240"/>
          </a:xfrm>
          <a:prstGeom prst="rect">
            <a:avLst/>
          </a:prstGeom>
          <a:noFill/>
        </p:spPr>
        <p:txBody>
          <a:bodyPr wrap="square">
            <a:spAutoFit/>
          </a:bodyPr>
          <a:lstStyle/>
          <a:p>
            <a:pPr>
              <a:spcAft>
                <a:spcPts val="1600"/>
              </a:spcAft>
            </a:pPr>
            <a:r>
              <a:rPr sz="1900">
                <a:solidFill>
                  <a:srgbClr val="595959"/>
                </a:solidFill>
                <a:latin typeface="Segoe UI"/>
              </a:rPr>
              <a:t>•  Fase 2 — Carga de datos maestros, cadena de suministros y campañas de CRM.</a:t>
            </a:r>
          </a:p>
          <a:p>
            <a:pPr>
              <a:spcAft>
                <a:spcPts val="1600"/>
              </a:spcAft>
            </a:pPr>
            <a:r>
              <a:rPr sz="1900">
                <a:solidFill>
                  <a:srgbClr val="595959"/>
                </a:solidFill>
                <a:latin typeface="Segoe UI"/>
              </a:rPr>
              <a:t>•  Fase 3 — Sitio e-commerce, integración de extremo a extremo y reportes de BI.</a:t>
            </a:r>
          </a:p>
          <a:p>
            <a:pPr>
              <a:spcAft>
                <a:spcPts val="1600"/>
              </a:spcAft>
            </a:pPr>
            <a:r>
              <a:rPr sz="1900">
                <a:solidFill>
                  <a:srgbClr val="595959"/>
                </a:solidFill>
                <a:latin typeface="Segoe UI"/>
              </a:rPr>
              <a:t>•  El riesgo que ya identificamos: la integración automática entre sistemas es lo más valorado de la Fase 3, y por eso elegimos un stack que la resuelve por configuración y no por código.</a:t>
            </a:r>
          </a:p>
        </p:txBody>
      </p:sp>
      <p:sp>
        <p:nvSpPr>
          <p:cNvPr id="6" name="TextBox 5"/>
          <p:cNvSpPr txBox="1"/>
          <p:nvPr/>
        </p:nvSpPr>
        <p:spPr>
          <a:xfrm>
            <a:off x="822960" y="4937760"/>
            <a:ext cx="10515600" cy="914400"/>
          </a:xfrm>
          <a:prstGeom prst="rect">
            <a:avLst/>
          </a:prstGeom>
          <a:noFill/>
        </p:spPr>
        <p:txBody>
          <a:bodyPr wrap="square">
            <a:spAutoFit/>
          </a:bodyPr>
          <a:lstStyle/>
          <a:p>
            <a:pPr algn="ctr">
              <a:spcAft>
                <a:spcPts val="600"/>
              </a:spcAft>
            </a:pPr>
            <a:r>
              <a:rPr sz="2600" b="1">
                <a:solidFill>
                  <a:srgbClr val="1F3A5F"/>
                </a:solidFill>
                <a:latin typeface="Segoe UI"/>
              </a:rPr>
              <a:t>Gracias. ¿Preguntas?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Características del proyecto</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Canales, pagos, entrega y competencia</a:t>
            </a:r>
          </a:p>
        </p:txBody>
      </p:sp>
      <p:graphicFrame>
        <p:nvGraphicFramePr>
          <p:cNvPr id="5" name="Table 4"/>
          <p:cNvGraphicFramePr>
            <a:graphicFrameLocks noGrp="1"/>
          </p:cNvGraphicFramePr>
          <p:nvPr/>
        </p:nvGraphicFramePr>
        <p:xfrm>
          <a:off x="822960" y="2011680"/>
          <a:ext cx="10515600" cy="2743200"/>
        </p:xfrm>
        <a:graphic>
          <a:graphicData uri="http://schemas.openxmlformats.org/drawingml/2006/table">
            <a:tbl>
              <a:tblPr firstRow="1" bandRow="1">
                <a:tableStyleId>{5C22544A-7EE6-4342-B048-85BDC9FD1C3A}</a:tableStyleId>
              </a:tblPr>
              <a:tblGrid>
                <a:gridCol w="2313432"/>
                <a:gridCol w="8202168"/>
              </a:tblGrid>
              <a:tr h="457200">
                <a:tc>
                  <a:txBody>
                    <a:bodyPr/>
                    <a:lstStyle/>
                    <a:p>
                      <a:r>
                        <a:rPr sz="1400" b="1">
                          <a:solidFill>
                            <a:srgbClr val="FFFFFF"/>
                          </a:solidFill>
                          <a:latin typeface="Segoe UI"/>
                        </a:rPr>
                        <a:t>Aspecto</a:t>
                      </a:r>
                    </a:p>
                  </a:txBody>
                  <a:tcPr>
                    <a:solidFill>
                      <a:srgbClr val="1F3A5F"/>
                    </a:solidFill>
                  </a:tcPr>
                </a:tc>
                <a:tc>
                  <a:txBody>
                    <a:bodyPr/>
                    <a:lstStyle/>
                    <a:p>
                      <a:r>
                        <a:rPr sz="1400" b="1">
                          <a:solidFill>
                            <a:srgbClr val="FFFFFF"/>
                          </a:solidFill>
                          <a:latin typeface="Segoe UI"/>
                        </a:rPr>
                        <a:t>Propuesta</a:t>
                      </a:r>
                    </a:p>
                  </a:txBody>
                  <a:tcPr>
                    <a:solidFill>
                      <a:srgbClr val="1F3A5F"/>
                    </a:solidFill>
                  </a:tcPr>
                </a:tc>
              </a:tr>
              <a:tr h="457200">
                <a:tc>
                  <a:txBody>
                    <a:bodyPr/>
                    <a:lstStyle/>
                    <a:p>
                      <a:r>
                        <a:rPr sz="1300" b="0">
                          <a:solidFill>
                            <a:srgbClr val="595959"/>
                          </a:solidFill>
                          <a:latin typeface="Segoe UI"/>
                        </a:rPr>
                        <a:t>Canales</a:t>
                      </a:r>
                    </a:p>
                  </a:txBody>
                  <a:tcPr/>
                </a:tc>
                <a:tc>
                  <a:txBody>
                    <a:bodyPr/>
                    <a:lstStyle/>
                    <a:p>
                      <a:r>
                        <a:rPr sz="1300" b="0">
                          <a:solidFill>
                            <a:srgbClr val="595959"/>
                          </a:solidFill>
                          <a:latin typeface="Segoe UI"/>
                        </a:rPr>
                        <a:t>Sitio propio rutamoto.gt, Facebook, Instagram, WhatsApp Business y portal del cliente</a:t>
                      </a:r>
                    </a:p>
                  </a:txBody>
                  <a:tcPr/>
                </a:tc>
              </a:tr>
              <a:tr h="457200">
                <a:tc>
                  <a:txBody>
                    <a:bodyPr/>
                    <a:lstStyle/>
                    <a:p>
                      <a:r>
                        <a:rPr sz="1300" b="0">
                          <a:solidFill>
                            <a:srgbClr val="595959"/>
                          </a:solidFill>
                          <a:latin typeface="Segoe UI"/>
                        </a:rPr>
                        <a:t>Pagos</a:t>
                      </a:r>
                    </a:p>
                  </a:txBody>
                  <a:tcPr/>
                </a:tc>
                <a:tc>
                  <a:txBody>
                    <a:bodyPr/>
                    <a:lstStyle/>
                    <a:p>
                      <a:r>
                        <a:rPr sz="1300" b="0">
                          <a:solidFill>
                            <a:srgbClr val="595959"/>
                          </a:solidFill>
                          <a:latin typeface="Segoe UI"/>
                        </a:rPr>
                        <a:t>Tarjeta, transferencia, contra entrega y pago en tienda</a:t>
                      </a:r>
                    </a:p>
                  </a:txBody>
                  <a:tcPr/>
                </a:tc>
              </a:tr>
              <a:tr h="457200">
                <a:tc>
                  <a:txBody>
                    <a:bodyPr/>
                    <a:lstStyle/>
                    <a:p>
                      <a:r>
                        <a:rPr sz="1300" b="0">
                          <a:solidFill>
                            <a:srgbClr val="595959"/>
                          </a:solidFill>
                          <a:latin typeface="Segoe UI"/>
                        </a:rPr>
                        <a:t>Entrega</a:t>
                      </a:r>
                    </a:p>
                  </a:txBody>
                  <a:tcPr/>
                </a:tc>
                <a:tc>
                  <a:txBody>
                    <a:bodyPr/>
                    <a:lstStyle/>
                    <a:p>
                      <a:r>
                        <a:rPr sz="1300" b="0">
                          <a:solidFill>
                            <a:srgbClr val="595959"/>
                          </a:solidFill>
                          <a:latin typeface="Segoe UI"/>
                        </a:rPr>
                        <a:t>Motomensajería metropolitana, recogida en tienda y encomienda departamental</a:t>
                      </a:r>
                    </a:p>
                  </a:txBody>
                  <a:tcPr/>
                </a:tc>
              </a:tr>
              <a:tr h="457200">
                <a:tc>
                  <a:txBody>
                    <a:bodyPr/>
                    <a:lstStyle/>
                    <a:p>
                      <a:r>
                        <a:rPr sz="1300" b="0">
                          <a:solidFill>
                            <a:srgbClr val="595959"/>
                          </a:solidFill>
                          <a:latin typeface="Segoe UI"/>
                        </a:rPr>
                        <a:t>Marketing</a:t>
                      </a:r>
                    </a:p>
                  </a:txBody>
                  <a:tcPr/>
                </a:tc>
                <a:tc>
                  <a:txBody>
                    <a:bodyPr/>
                    <a:lstStyle/>
                    <a:p>
                      <a:r>
                        <a:rPr sz="1300" b="0">
                          <a:solidFill>
                            <a:srgbClr val="595959"/>
                          </a:solidFill>
                          <a:latin typeface="Segoe UI"/>
                        </a:rPr>
                        <a:t>Contenido de mantenimiento, promociones de lanzamiento y campañas segmentadas</a:t>
                      </a:r>
                    </a:p>
                  </a:txBody>
                  <a:tcPr/>
                </a:tc>
              </a:tr>
              <a:tr h="457200">
                <a:tc>
                  <a:txBody>
                    <a:bodyPr/>
                    <a:lstStyle/>
                    <a:p>
                      <a:r>
                        <a:rPr sz="1300" b="0">
                          <a:solidFill>
                            <a:srgbClr val="595959"/>
                          </a:solidFill>
                          <a:latin typeface="Segoe UI"/>
                        </a:rPr>
                        <a:t>Competencia</a:t>
                      </a:r>
                    </a:p>
                  </a:txBody>
                  <a:tcPr/>
                </a:tc>
                <a:tc>
                  <a:txBody>
                    <a:bodyPr/>
                    <a:lstStyle/>
                    <a:p>
                      <a:r>
                        <a:rPr sz="1300" b="0">
                          <a:solidFill>
                            <a:srgbClr val="595959"/>
                          </a:solidFill>
                          <a:latin typeface="Segoe UI"/>
                        </a:rPr>
                        <a:t>Tiendas físicas, concesionarios, marketplaces, informales y talleres</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Beneficiarios del proyecto</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Impacto directo e indirecto</a:t>
            </a:r>
          </a:p>
        </p:txBody>
      </p:sp>
      <p:graphicFrame>
        <p:nvGraphicFramePr>
          <p:cNvPr id="5" name="Table 4"/>
          <p:cNvGraphicFramePr>
            <a:graphicFrameLocks noGrp="1"/>
          </p:cNvGraphicFramePr>
          <p:nvPr/>
        </p:nvGraphicFramePr>
        <p:xfrm>
          <a:off x="822960" y="2011680"/>
          <a:ext cx="10515600" cy="2743200"/>
        </p:xfrm>
        <a:graphic>
          <a:graphicData uri="http://schemas.openxmlformats.org/drawingml/2006/table">
            <a:tbl>
              <a:tblPr firstRow="1" bandRow="1">
                <a:tableStyleId>{5C22544A-7EE6-4342-B048-85BDC9FD1C3A}</a:tableStyleId>
              </a:tblPr>
              <a:tblGrid>
                <a:gridCol w="2313432"/>
                <a:gridCol w="8202168"/>
              </a:tblGrid>
              <a:tr h="457200">
                <a:tc>
                  <a:txBody>
                    <a:bodyPr/>
                    <a:lstStyle/>
                    <a:p>
                      <a:r>
                        <a:rPr sz="1400" b="1">
                          <a:solidFill>
                            <a:srgbClr val="FFFFFF"/>
                          </a:solidFill>
                          <a:latin typeface="Segoe UI"/>
                        </a:rPr>
                        <a:t>Directos</a:t>
                      </a:r>
                    </a:p>
                  </a:txBody>
                  <a:tcPr>
                    <a:solidFill>
                      <a:srgbClr val="1F3A5F"/>
                    </a:solidFill>
                  </a:tcPr>
                </a:tc>
                <a:tc>
                  <a:txBody>
                    <a:bodyPr/>
                    <a:lstStyle/>
                    <a:p>
                      <a:r>
                        <a:rPr sz="1400" b="1">
                          <a:solidFill>
                            <a:srgbClr val="FFFFFF"/>
                          </a:solidFill>
                          <a:latin typeface="Segoe UI"/>
                        </a:rPr>
                        <a:t>Indirectos</a:t>
                      </a:r>
                    </a:p>
                  </a:txBody>
                  <a:tcPr>
                    <a:solidFill>
                      <a:srgbClr val="1F3A5F"/>
                    </a:solidFill>
                  </a:tcPr>
                </a:tc>
              </a:tr>
              <a:tr h="457200">
                <a:tc>
                  <a:txBody>
                    <a:bodyPr/>
                    <a:lstStyle/>
                    <a:p>
                      <a:r>
                        <a:rPr sz="1300" b="0">
                          <a:solidFill>
                            <a:srgbClr val="595959"/>
                          </a:solidFill>
                          <a:latin typeface="Segoe UI"/>
                        </a:rPr>
                        <a:t>Repartidores y motociclistas particulares</a:t>
                      </a:r>
                    </a:p>
                  </a:txBody>
                  <a:tcPr/>
                </a:tc>
                <a:tc>
                  <a:txBody>
                    <a:bodyPr/>
                    <a:lstStyle/>
                    <a:p>
                      <a:r>
                        <a:rPr sz="1300" b="0">
                          <a:solidFill>
                            <a:srgbClr val="595959"/>
                          </a:solidFill>
                          <a:latin typeface="Segoe UI"/>
                        </a:rPr>
                        <a:t>Proveedores de repuestos y accesorios</a:t>
                      </a:r>
                    </a:p>
                  </a:txBody>
                  <a:tcPr/>
                </a:tc>
              </a:tr>
              <a:tr h="457200">
                <a:tc>
                  <a:txBody>
                    <a:bodyPr/>
                    <a:lstStyle/>
                    <a:p>
                      <a:r>
                        <a:rPr sz="1300" b="0">
                          <a:solidFill>
                            <a:srgbClr val="595959"/>
                          </a:solidFill>
                          <a:latin typeface="Segoe UI"/>
                        </a:rPr>
                        <a:t>Talleres mecánicos independientes (B2B)</a:t>
                      </a:r>
                    </a:p>
                  </a:txBody>
                  <a:tcPr/>
                </a:tc>
                <a:tc>
                  <a:txBody>
                    <a:bodyPr/>
                    <a:lstStyle/>
                    <a:p>
                      <a:r>
                        <a:rPr sz="1300" b="0">
                          <a:solidFill>
                            <a:srgbClr val="595959"/>
                          </a:solidFill>
                          <a:latin typeface="Segoe UI"/>
                        </a:rPr>
                        <a:t>Empresas de mensajería y encomienda</a:t>
                      </a:r>
                    </a:p>
                  </a:txBody>
                  <a:tcPr/>
                </a:tc>
              </a:tr>
              <a:tr h="457200">
                <a:tc>
                  <a:txBody>
                    <a:bodyPr/>
                    <a:lstStyle/>
                    <a:p>
                      <a:r>
                        <a:rPr sz="1300" b="0">
                          <a:solidFill>
                            <a:srgbClr val="595959"/>
                          </a:solidFill>
                          <a:latin typeface="Segoe UI"/>
                        </a:rPr>
                        <a:t>Personal de ventas, inventario y logística</a:t>
                      </a:r>
                    </a:p>
                  </a:txBody>
                  <a:tcPr/>
                </a:tc>
                <a:tc>
                  <a:txBody>
                    <a:bodyPr/>
                    <a:lstStyle/>
                    <a:p>
                      <a:r>
                        <a:rPr sz="1300" b="0">
                          <a:solidFill>
                            <a:srgbClr val="595959"/>
                          </a:solidFill>
                          <a:latin typeface="Segoe UI"/>
                        </a:rPr>
                        <a:t>Instituciones financieras y pasarelas de pago</a:t>
                      </a:r>
                    </a:p>
                  </a:txBody>
                  <a:tcPr/>
                </a:tc>
              </a:tr>
              <a:tr h="457200">
                <a:tc>
                  <a:txBody>
                    <a:bodyPr/>
                    <a:lstStyle/>
                    <a:p>
                      <a:r>
                        <a:rPr sz="1300" b="0">
                          <a:solidFill>
                            <a:srgbClr val="595959"/>
                          </a:solidFill>
                          <a:latin typeface="Segoe UI"/>
                        </a:rPr>
                        <a:t>Administración de RutaMoto y QuetzalDev</a:t>
                      </a:r>
                    </a:p>
                  </a:txBody>
                  <a:tcPr/>
                </a:tc>
                <a:tc>
                  <a:txBody>
                    <a:bodyPr/>
                    <a:lstStyle/>
                    <a:p>
                      <a:r>
                        <a:rPr sz="1300" b="0">
                          <a:solidFill>
                            <a:srgbClr val="595959"/>
                          </a:solidFill>
                          <a:latin typeface="Segoe UI"/>
                        </a:rPr>
                        <a:t>Comunidad local y sector de talleres</a:t>
                      </a:r>
                    </a:p>
                  </a:txBody>
                  <a:tcPr/>
                </a:tc>
              </a:tr>
              <a:tr h="457200">
                <a:tc>
                  <a:txBody>
                    <a:bodyPr/>
                    <a:lstStyle/>
                    <a:p>
                      <a:r>
                        <a:rPr sz="1300" b="0">
                          <a:solidFill>
                            <a:srgbClr val="595959"/>
                          </a:solidFill>
                          <a:latin typeface="Segoe UI"/>
                        </a:rPr>
                        <a:t>Equipo del proyecto</a:t>
                      </a:r>
                    </a:p>
                  </a:txBody>
                  <a:tcPr/>
                </a:tc>
                <a:tc>
                  <a:txBody>
                    <a:bodyPr/>
                    <a:lstStyle/>
                    <a:p>
                      <a:r>
                        <a:rPr sz="1300" b="0">
                          <a:solidFill>
                            <a:srgbClr val="595959"/>
                          </a:solidFill>
                          <a:latin typeface="Segoe UI"/>
                        </a:rPr>
                        <a:t>Proveedores de tecnología e internet</a:t>
                      </a:r>
                    </a:p>
                  </a:txBody>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D79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822960"/>
          </a:xfrm>
          <a:prstGeom prst="rect">
            <a:avLst/>
          </a:prstGeom>
          <a:noFill/>
        </p:spPr>
        <p:txBody>
          <a:bodyPr wrap="square">
            <a:spAutoFit/>
          </a:bodyPr>
          <a:lstStyle/>
          <a:p>
            <a:pPr algn="l">
              <a:spcAft>
                <a:spcPts val="600"/>
              </a:spcAft>
            </a:pPr>
            <a:r>
              <a:rPr sz="3200" b="1">
                <a:solidFill>
                  <a:srgbClr val="1F3A5F"/>
                </a:solidFill>
                <a:latin typeface="Segoe UI"/>
              </a:rPr>
              <a:t>Medición de logros y resultados</a:t>
            </a:r>
          </a:p>
        </p:txBody>
      </p:sp>
      <p:sp>
        <p:nvSpPr>
          <p:cNvPr id="4" name="TextBox 3"/>
          <p:cNvSpPr txBox="1"/>
          <p:nvPr/>
        </p:nvSpPr>
        <p:spPr>
          <a:xfrm>
            <a:off x="640080" y="1234440"/>
            <a:ext cx="10972800" cy="457200"/>
          </a:xfrm>
          <a:prstGeom prst="rect">
            <a:avLst/>
          </a:prstGeom>
          <a:noFill/>
        </p:spPr>
        <p:txBody>
          <a:bodyPr wrap="square">
            <a:spAutoFit/>
          </a:bodyPr>
          <a:lstStyle/>
          <a:p>
            <a:pPr algn="l">
              <a:spcAft>
                <a:spcPts val="600"/>
              </a:spcAft>
            </a:pPr>
            <a:r>
              <a:rPr sz="1500" b="0">
                <a:solidFill>
                  <a:srgbClr val="595959"/>
                </a:solidFill>
                <a:latin typeface="Segoe UI"/>
              </a:rPr>
              <a:t>Cómo se verificará el cumplimiento</a:t>
            </a:r>
          </a:p>
        </p:txBody>
      </p:sp>
      <p:graphicFrame>
        <p:nvGraphicFramePr>
          <p:cNvPr id="5" name="Table 4"/>
          <p:cNvGraphicFramePr>
            <a:graphicFrameLocks noGrp="1"/>
          </p:cNvGraphicFramePr>
          <p:nvPr/>
        </p:nvGraphicFramePr>
        <p:xfrm>
          <a:off x="822960" y="2011680"/>
          <a:ext cx="10515600" cy="2743200"/>
        </p:xfrm>
        <a:graphic>
          <a:graphicData uri="http://schemas.openxmlformats.org/drawingml/2006/table">
            <a:tbl>
              <a:tblPr firstRow="1" bandRow="1">
                <a:tableStyleId>{5C22544A-7EE6-4342-B048-85BDC9FD1C3A}</a:tableStyleId>
              </a:tblPr>
              <a:tblGrid>
                <a:gridCol w="2313432"/>
                <a:gridCol w="8202168"/>
              </a:tblGrid>
              <a:tr h="457200">
                <a:tc>
                  <a:txBody>
                    <a:bodyPr/>
                    <a:lstStyle/>
                    <a:p>
                      <a:r>
                        <a:rPr sz="1400" b="1">
                          <a:solidFill>
                            <a:srgbClr val="FFFFFF"/>
                          </a:solidFill>
                          <a:latin typeface="Segoe UI"/>
                        </a:rPr>
                        <a:t>Aspecto</a:t>
                      </a:r>
                    </a:p>
                  </a:txBody>
                  <a:tcPr>
                    <a:solidFill>
                      <a:srgbClr val="1F3A5F"/>
                    </a:solidFill>
                  </a:tcPr>
                </a:tc>
                <a:tc>
                  <a:txBody>
                    <a:bodyPr/>
                    <a:lstStyle/>
                    <a:p>
                      <a:r>
                        <a:rPr sz="1400" b="1">
                          <a:solidFill>
                            <a:srgbClr val="FFFFFF"/>
                          </a:solidFill>
                          <a:latin typeface="Segoe UI"/>
                        </a:rPr>
                        <a:t>Método de verificación</a:t>
                      </a:r>
                    </a:p>
                  </a:txBody>
                  <a:tcPr>
                    <a:solidFill>
                      <a:srgbClr val="1F3A5F"/>
                    </a:solidFill>
                  </a:tcPr>
                </a:tc>
              </a:tr>
              <a:tr h="457200">
                <a:tc>
                  <a:txBody>
                    <a:bodyPr/>
                    <a:lstStyle/>
                    <a:p>
                      <a:r>
                        <a:rPr sz="1300" b="0">
                          <a:solidFill>
                            <a:srgbClr val="595959"/>
                          </a:solidFill>
                          <a:latin typeface="Segoe UI"/>
                        </a:rPr>
                        <a:t>Objetivos y actividades</a:t>
                      </a:r>
                    </a:p>
                  </a:txBody>
                  <a:tcPr/>
                </a:tc>
                <a:tc>
                  <a:txBody>
                    <a:bodyPr/>
                    <a:lstStyle/>
                    <a:p>
                      <a:r>
                        <a:rPr sz="1300" b="0">
                          <a:solidFill>
                            <a:srgbClr val="595959"/>
                          </a:solidFill>
                          <a:latin typeface="Segoe UI"/>
                        </a:rPr>
                        <a:t>Metas SMART, cronograma y porcentaje de avance</a:t>
                      </a:r>
                    </a:p>
                  </a:txBody>
                  <a:tcPr/>
                </a:tc>
              </a:tr>
              <a:tr h="457200">
                <a:tc>
                  <a:txBody>
                    <a:bodyPr/>
                    <a:lstStyle/>
                    <a:p>
                      <a:r>
                        <a:rPr sz="1300" b="0">
                          <a:solidFill>
                            <a:srgbClr val="595959"/>
                          </a:solidFill>
                          <a:latin typeface="Segoe UI"/>
                        </a:rPr>
                        <a:t>Avance del proyecto</a:t>
                      </a:r>
                    </a:p>
                  </a:txBody>
                  <a:tcPr/>
                </a:tc>
                <a:tc>
                  <a:txBody>
                    <a:bodyPr/>
                    <a:lstStyle/>
                    <a:p>
                      <a:r>
                        <a:rPr sz="1300" b="0">
                          <a:solidFill>
                            <a:srgbClr val="595959"/>
                          </a:solidFill>
                          <a:latin typeface="Segoe UI"/>
                        </a:rPr>
                        <a:t>Capturas, videos, pruebas funcionales y entregables</a:t>
                      </a:r>
                    </a:p>
                  </a:txBody>
                  <a:tcPr/>
                </a:tc>
              </a:tr>
              <a:tr h="457200">
                <a:tc>
                  <a:txBody>
                    <a:bodyPr/>
                    <a:lstStyle/>
                    <a:p>
                      <a:r>
                        <a:rPr sz="1300" b="0">
                          <a:solidFill>
                            <a:srgbClr val="595959"/>
                          </a:solidFill>
                          <a:latin typeface="Segoe UI"/>
                        </a:rPr>
                        <a:t>Beneficios económicos</a:t>
                      </a:r>
                    </a:p>
                  </a:txBody>
                  <a:tcPr/>
                </a:tc>
                <a:tc>
                  <a:txBody>
                    <a:bodyPr/>
                    <a:lstStyle/>
                    <a:p>
                      <a:r>
                        <a:rPr sz="1300" b="0">
                          <a:solidFill>
                            <a:srgbClr val="595959"/>
                          </a:solidFill>
                          <a:latin typeface="Segoe UI"/>
                        </a:rPr>
                        <a:t>Ventas, margen, ahorro operativo y retorno de la inversión</a:t>
                      </a:r>
                    </a:p>
                  </a:txBody>
                  <a:tcPr/>
                </a:tc>
              </a:tr>
              <a:tr h="457200">
                <a:tc>
                  <a:txBody>
                    <a:bodyPr/>
                    <a:lstStyle/>
                    <a:p>
                      <a:r>
                        <a:rPr sz="1300" b="0">
                          <a:solidFill>
                            <a:srgbClr val="595959"/>
                          </a:solidFill>
                          <a:latin typeface="Segoe UI"/>
                        </a:rPr>
                        <a:t>Satisfacción</a:t>
                      </a:r>
                    </a:p>
                  </a:txBody>
                  <a:tcPr/>
                </a:tc>
                <a:tc>
                  <a:txBody>
                    <a:bodyPr/>
                    <a:lstStyle/>
                    <a:p>
                      <a:r>
                        <a:rPr sz="1300" b="0">
                          <a:solidFill>
                            <a:srgbClr val="595959"/>
                          </a:solidFill>
                          <a:latin typeface="Segoe UI"/>
                        </a:rPr>
                        <a:t>Encuesta CSAT y reclamos registrados en el CRM</a:t>
                      </a:r>
                    </a:p>
                  </a:txBody>
                  <a:tcPr/>
                </a:tc>
              </a:tr>
              <a:tr h="457200">
                <a:tc>
                  <a:txBody>
                    <a:bodyPr/>
                    <a:lstStyle/>
                    <a:p>
                      <a:r>
                        <a:rPr sz="1300" b="0">
                          <a:solidFill>
                            <a:srgbClr val="595959"/>
                          </a:solidFill>
                          <a:latin typeface="Segoe UI"/>
                        </a:rPr>
                        <a:t>Plataforma</a:t>
                      </a:r>
                    </a:p>
                  </a:txBody>
                  <a:tcPr/>
                </a:tc>
                <a:tc>
                  <a:txBody>
                    <a:bodyPr/>
                    <a:lstStyle/>
                    <a:p>
                      <a:r>
                        <a:rPr sz="1300" b="0">
                          <a:solidFill>
                            <a:srgbClr val="595959"/>
                          </a:solidFill>
                          <a:latin typeface="Segoe UI"/>
                        </a:rPr>
                        <a:t>Disponibilidad, velocidad, errores y pedidos completados</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