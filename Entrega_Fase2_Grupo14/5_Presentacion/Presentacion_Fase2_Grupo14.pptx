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no_rutam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188720"/>
            <a:ext cx="1188720" cy="1188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56032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5400" b="1">
                <a:solidFill>
                  <a:srgbClr val="FFFFFF"/>
                </a:solidFill>
                <a:latin typeface="Segoe UI"/>
              </a:rPr>
              <a:t>RutaMoto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DDE4EE"/>
                </a:solidFill>
                <a:latin typeface="Segoe UI"/>
              </a:rPr>
              <a:t>Transformación Digital en E-Commerce con ERP, CRM y BI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4160520"/>
            <a:ext cx="1280160" cy="45000"/>
          </a:xfrm>
          <a:prstGeom prst="rect">
            <a:avLst/>
          </a:prstGeom>
          <a:solidFill>
            <a:srgbClr val="D7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34340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DDE4EE"/>
                </a:solidFill>
                <a:latin typeface="Segoe UI"/>
              </a:rPr>
              <a:t>Fase 2 · Configuración, desarrollo de módulos y operación base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DDE4EE"/>
                </a:solidFill>
                <a:latin typeface="Segoe UI"/>
              </a:rPr>
              <a:t>Grupo 14 · Sistemas Organizacionales y Gerenciales 1 · Sección A · 5 de octubre de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6692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8A9BB5"/>
                </a:solidFill>
                <a:latin typeface="Segoe UI"/>
              </a:rPr>
              <a:t>Santiago Julián Barrera Reyes 201905884  ·  Jemima Solmaira Chavajay 201801521  ·  Alberto Josué Hernández Armas 201903553  ·  Brayan Emanuel García 202300848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3A5F"/>
                </a:solidFill>
                <a:latin typeface="Segoe UI"/>
              </a:rPr>
              <a:t>Qué pedía la Fase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8A9BB5"/>
                </a:solidFill>
                <a:latin typeface="Segoe UI"/>
              </a:rPr>
              <a:t>De un ERP instalado a un ERP que opera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1097280" cy="40000"/>
          </a:xfrm>
          <a:prstGeom prst="rect">
            <a:avLst/>
          </a:prstGeom>
          <a:solidFill>
            <a:srgbClr val="D7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8A9BB5"/>
                </a:solidFill>
                <a:latin typeface="Segoe UI"/>
              </a:rPr>
              <a:t>Presenta: Rol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35508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8A9BB5"/>
                </a:solidFill>
                <a:latin typeface="Segoe UI"/>
              </a:rPr>
              <a:t>RutaMoto · Fase 2 · Grupo 14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828800"/>
          <a:ext cx="6766559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0285"/>
                <a:gridCol w="1396274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Criterio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Pts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Carga manual y masiva, validada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Compras y cotizaciones</a:t>
                      </a:r>
                    </a:p>
                  </a:txBody>
                  <a:tcPr>
                    <a:solidFill>
                      <a:srgbClr val="DDE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>
                    <a:solidFill>
                      <a:srgbClr val="DDE4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Correos desde el CRM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Medición de logros</a:t>
                      </a:r>
                    </a:p>
                  </a:txBody>
                  <a:tcPr>
                    <a:solidFill>
                      <a:srgbClr val="DDE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>
                    <a:solidFill>
                      <a:srgbClr val="DDE4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Documentación · Entregables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10 + 10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Demostración técnica</a:t>
                      </a:r>
                    </a:p>
                  </a:txBody>
                  <a:tcPr>
                    <a:solidFill>
                      <a:srgbClr val="DDE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>
                    <a:solidFill>
                      <a:srgbClr val="DDE4EE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680960" y="1828800"/>
            <a:ext cx="4023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595959"/>
                </a:solidFill>
                <a:latin typeface="Segoe UI"/>
              </a:rPr>
              <a:t>Dos condiciones que no son puntos: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595959"/>
                </a:solidFill>
                <a:latin typeface="Segoe UI"/>
              </a:rPr>
              <a:t>•  El ciclo de compras, demostrable.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595959"/>
                </a:solidFill>
                <a:latin typeface="Segoe UI"/>
              </a:rPr>
              <a:t>•  Los manuales, con captura en cada paso.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595959"/>
                </a:solidFill>
                <a:latin typeface="Segoe UI"/>
              </a:rPr>
              <a:t>Si falla una, el proyecto vale cero.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3A5F"/>
                </a:solidFill>
                <a:latin typeface="Segoe UI"/>
              </a:rPr>
              <a:t>Una sola base para los cuatro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8A9BB5"/>
                </a:solidFill>
                <a:latin typeface="Segoe UI"/>
              </a:rPr>
              <a:t>Cómo trabajamos en paralelo sin descuadrar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1097280" cy="40000"/>
          </a:xfrm>
          <a:prstGeom prst="rect">
            <a:avLst/>
          </a:prstGeom>
          <a:solidFill>
            <a:srgbClr val="D7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8A9BB5"/>
                </a:solidFill>
                <a:latin typeface="Segoe UI"/>
              </a:rPr>
              <a:t>Presenta: Rol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35508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8A9BB5"/>
                </a:solidFill>
                <a:latin typeface="Segoe UI"/>
              </a:rPr>
              <a:t>RutaMoto · Fase 2 · Grupo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57607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595959"/>
                </a:solidFill>
                <a:latin typeface="Segoe UI"/>
              </a:rPr>
              <a:t>•  La instancia de la Fase 1, en una sola laptop.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595959"/>
                </a:solidFill>
                <a:latin typeface="Segoe UI"/>
              </a:rPr>
              <a:t>•  Acceso remoto por túnel de Cloudflare.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595959"/>
                </a:solidFill>
                <a:latin typeface="Segoe UI"/>
              </a:rPr>
              <a:t>•  Un usuario por integrante: el historial de cada registro dice quién lo hizo.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595959"/>
                </a:solidFill>
                <a:latin typeface="Segoe UI"/>
              </a:rPr>
              <a:t>•  Respaldos antes de la carga, después y al cierre.</a:t>
            </a:r>
          </a:p>
        </p:txBody>
      </p:sp>
      <p:pic>
        <p:nvPicPr>
          <p:cNvPr id="10" name="Picture 9" descr="02_usua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345323"/>
            <a:ext cx="5120640" cy="28988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3A5F"/>
                </a:solidFill>
                <a:latin typeface="Segoe UI"/>
              </a:rPr>
              <a:t>Los datos maestros cuadran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8A9BB5"/>
                </a:solidFill>
                <a:latin typeface="Segoe UI"/>
              </a:rPr>
              <a:t>Un Excel, siete hojas, en orden de dependencia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1097280" cy="40000"/>
          </a:xfrm>
          <a:prstGeom prst="rect">
            <a:avLst/>
          </a:prstGeom>
          <a:solidFill>
            <a:srgbClr val="D7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8A9BB5"/>
                </a:solidFill>
                <a:latin typeface="Segoe UI"/>
              </a:rPr>
              <a:t>Presenta: Rol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35508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8A9BB5"/>
                </a:solidFill>
                <a:latin typeface="Segoe UI"/>
              </a:rPr>
              <a:t>RutaMoto · Fase 2 · Grupo 14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828800"/>
          <a:ext cx="60350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341120"/>
                <a:gridCol w="1341120"/>
                <a:gridCol w="134112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Dato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Masiva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Manual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Total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Productos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Proveedores</a:t>
                      </a:r>
                    </a:p>
                  </a:txBody>
                  <a:tcPr>
                    <a:solidFill>
                      <a:srgbClr val="DDE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>
                    <a:solidFill>
                      <a:srgbClr val="DDE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DDE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>
                    <a:solidFill>
                      <a:srgbClr val="DDE4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Clientes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Inventario al costo</a:t>
                      </a:r>
                    </a:p>
                  </a:txBody>
                  <a:tcPr>
                    <a:solidFill>
                      <a:srgbClr val="DDE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Q 38,096</a:t>
                      </a:r>
                    </a:p>
                  </a:txBody>
                  <a:tcPr>
                    <a:solidFill>
                      <a:srgbClr val="DDE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Q 6,904</a:t>
                      </a:r>
                    </a:p>
                  </a:txBody>
                  <a:tcPr>
                    <a:solidFill>
                      <a:srgbClr val="DDE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Q 45,000</a:t>
                      </a:r>
                    </a:p>
                  </a:txBody>
                  <a:tcPr>
                    <a:solidFill>
                      <a:srgbClr val="DDE4EE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949440" y="1828800"/>
            <a:ext cx="47548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595959"/>
                </a:solidFill>
                <a:latin typeface="Segoe UI"/>
              </a:rPr>
              <a:t>Q 45,000 es el rubro «Inventario inicial» del presupuesto de la Fase 1.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595959"/>
                </a:solidFill>
                <a:latin typeface="Segoe UI"/>
              </a:rPr>
              <a:t>Cuatro productos quedan bajo el mínimo a propósito: son los que disparan las alertas y las compras.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3A5F"/>
                </a:solidFill>
                <a:latin typeface="Segoe UI"/>
              </a:rPr>
              <a:t>Carga masiva y carga manual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8A9BB5"/>
                </a:solidFill>
                <a:latin typeface="Segoe UI"/>
              </a:rPr>
              <a:t>30 puntos: las dos modalidades y la validación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1097280" cy="40000"/>
          </a:xfrm>
          <a:prstGeom prst="rect">
            <a:avLst/>
          </a:prstGeom>
          <a:solidFill>
            <a:srgbClr val="D7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0" y="411480"/>
            <a:ext cx="1737360" cy="457200"/>
          </a:xfrm>
          <a:prstGeom prst="roundRect">
            <a:avLst/>
          </a:prstGeom>
          <a:solidFill>
            <a:srgbClr val="D7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F3A5F"/>
                </a:solidFill>
                <a:latin typeface="Segoe UI"/>
              </a:rPr>
              <a:t>DEMO EN VIVO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8A9BB5"/>
                </a:solidFill>
                <a:latin typeface="Segoe UI"/>
              </a:rPr>
              <a:t>Presenta: Roles 3 y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35508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8A9BB5"/>
                </a:solidFill>
                <a:latin typeface="Segoe UI"/>
              </a:rPr>
              <a:t>RutaMoto · Fase 2 · Grupo 14</a:t>
            </a:r>
          </a:p>
        </p:txBody>
      </p:sp>
      <p:pic>
        <p:nvPicPr>
          <p:cNvPr id="11" name="Picture 10" descr="07_im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890" y="1828800"/>
            <a:ext cx="5149900" cy="4023360"/>
          </a:xfrm>
          <a:prstGeom prst="rect">
            <a:avLst/>
          </a:prstGeom>
        </p:spPr>
      </p:pic>
      <p:pic>
        <p:nvPicPr>
          <p:cNvPr id="12" name="Picture 11" descr="imag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2407241"/>
            <a:ext cx="5394960" cy="28664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3A5F"/>
                </a:solidFill>
                <a:latin typeface="Segoe UI"/>
              </a:rPr>
              <a:t>Ciclo de compras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8A9BB5"/>
                </a:solidFill>
                <a:latin typeface="Segoe UI"/>
              </a:rPr>
              <a:t>Alerta de stock bajo → solicitud → orden → recepción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1097280" cy="40000"/>
          </a:xfrm>
          <a:prstGeom prst="rect">
            <a:avLst/>
          </a:prstGeom>
          <a:solidFill>
            <a:srgbClr val="D7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0" y="411480"/>
            <a:ext cx="1737360" cy="457200"/>
          </a:xfrm>
          <a:prstGeom prst="roundRect">
            <a:avLst/>
          </a:prstGeom>
          <a:solidFill>
            <a:srgbClr val="D7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F3A5F"/>
                </a:solidFill>
                <a:latin typeface="Segoe UI"/>
              </a:rPr>
              <a:t>DEMO EN VIVO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8A9BB5"/>
                </a:solidFill>
                <a:latin typeface="Segoe UI"/>
              </a:rPr>
              <a:t>Presenta: Rol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35508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8A9BB5"/>
                </a:solidFill>
                <a:latin typeface="Segoe UI"/>
              </a:rPr>
              <a:t>RutaMoto · Fase 2 · Grupo 14</a:t>
            </a:r>
          </a:p>
        </p:txBody>
      </p:sp>
      <p:sp>
        <p:nvSpPr>
          <p:cNvPr id="9" name="Pentagon 8"/>
          <p:cNvSpPr/>
          <p:nvPr/>
        </p:nvSpPr>
        <p:spPr>
          <a:xfrm>
            <a:off x="548640" y="1920240"/>
            <a:ext cx="2560320" cy="1280160"/>
          </a:xfrm>
          <a:prstGeom prst="homePlate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57400"/>
            <a:ext cx="1645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Alerta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FRE-001: 6 &lt; mín. 15</a:t>
            </a:r>
          </a:p>
        </p:txBody>
      </p:sp>
      <p:sp>
        <p:nvSpPr>
          <p:cNvPr id="11" name="Chevron 10"/>
          <p:cNvSpPr/>
          <p:nvPr/>
        </p:nvSpPr>
        <p:spPr>
          <a:xfrm>
            <a:off x="3383280" y="1920240"/>
            <a:ext cx="2560320" cy="1280160"/>
          </a:xfrm>
          <a:prstGeom prst="chevron">
            <a:avLst/>
          </a:prstGeom>
          <a:solidFill>
            <a:srgbClr val="D7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69080" y="2057400"/>
            <a:ext cx="1645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Solicitud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44 u. al proveedor</a:t>
            </a:r>
          </a:p>
        </p:txBody>
      </p:sp>
      <p:sp>
        <p:nvSpPr>
          <p:cNvPr id="13" name="Chevron 12"/>
          <p:cNvSpPr/>
          <p:nvPr/>
        </p:nvSpPr>
        <p:spPr>
          <a:xfrm>
            <a:off x="6217920" y="1920240"/>
            <a:ext cx="2560320" cy="1280160"/>
          </a:xfrm>
          <a:prstGeom prst="chevron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2057400"/>
            <a:ext cx="1645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Orden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Confirmada</a:t>
            </a:r>
          </a:p>
        </p:txBody>
      </p:sp>
      <p:sp>
        <p:nvSpPr>
          <p:cNvPr id="15" name="Chevron 14"/>
          <p:cNvSpPr/>
          <p:nvPr/>
        </p:nvSpPr>
        <p:spPr>
          <a:xfrm>
            <a:off x="9052560" y="1920240"/>
            <a:ext cx="2560320" cy="1280160"/>
          </a:xfrm>
          <a:prstGeom prst="chevron">
            <a:avLst/>
          </a:prstGeom>
          <a:solidFill>
            <a:srgbClr val="D7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38360" y="2057400"/>
            <a:ext cx="1645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Recepción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6 → 50 unidades</a:t>
            </a:r>
          </a:p>
        </p:txBody>
      </p:sp>
      <p:pic>
        <p:nvPicPr>
          <p:cNvPr id="18" name="Picture 17" descr="28_h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6697" y="3566160"/>
            <a:ext cx="4199565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3A5F"/>
                </a:solidFill>
                <a:latin typeface="Segoe UI"/>
              </a:rPr>
              <a:t>De la cotización a la venta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8A9BB5"/>
                </a:solidFill>
                <a:latin typeface="Segoe UI"/>
              </a:rPr>
              <a:t>Tarifa de talleres, cotización, pedido, entrega y factura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1097280" cy="40000"/>
          </a:xfrm>
          <a:prstGeom prst="rect">
            <a:avLst/>
          </a:prstGeom>
          <a:solidFill>
            <a:srgbClr val="D7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0" y="411480"/>
            <a:ext cx="1737360" cy="457200"/>
          </a:xfrm>
          <a:prstGeom prst="roundRect">
            <a:avLst/>
          </a:prstGeom>
          <a:solidFill>
            <a:srgbClr val="D7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F3A5F"/>
                </a:solidFill>
                <a:latin typeface="Segoe UI"/>
              </a:rPr>
              <a:t>DEMO EN VIVO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8A9BB5"/>
                </a:solidFill>
                <a:latin typeface="Segoe UI"/>
              </a:rPr>
              <a:t>Presenta: Rol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35508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8A9BB5"/>
                </a:solidFill>
                <a:latin typeface="Segoe UI"/>
              </a:rPr>
              <a:t>RutaMoto · Fase 2 · Grupo 14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828800"/>
          <a:ext cx="58521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1296"/>
                <a:gridCol w="2340864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Cotización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Estado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1 · El Pistón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Facturada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2 · MotoClínica</a:t>
                      </a:r>
                    </a:p>
                  </a:txBody>
                  <a:tcPr>
                    <a:solidFill>
                      <a:srgbClr val="DDE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Facturada</a:t>
                      </a:r>
                    </a:p>
                  </a:txBody>
                  <a:tcPr>
                    <a:solidFill>
                      <a:srgbClr val="DDE4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3 · Entusiasta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Facturada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4 · Dos Ruedas</a:t>
                      </a:r>
                    </a:p>
                  </a:txBody>
                  <a:tcPr>
                    <a:solidFill>
                      <a:srgbClr val="DDE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Cancelada</a:t>
                      </a:r>
                    </a:p>
                  </a:txBody>
                  <a:tcPr>
                    <a:solidFill>
                      <a:srgbClr val="DDE4EE"/>
                    </a:solidFill>
                  </a:tcPr>
                </a:tc>
              </a:tr>
            </a:tbl>
          </a:graphicData>
        </a:graphic>
      </p:graphicFrame>
      <p:pic>
        <p:nvPicPr>
          <p:cNvPr id="11" name="Picture 10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773578"/>
            <a:ext cx="5029200" cy="21338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3A5F"/>
                </a:solidFill>
                <a:latin typeface="Segoe UI"/>
              </a:rPr>
              <a:t>Informe de inventario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8A9BB5"/>
                </a:solidFill>
                <a:latin typeface="Segoe UI"/>
              </a:rPr>
              <a:t>Existencias, órdenes pendientes y alertas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1097280" cy="40000"/>
          </a:xfrm>
          <a:prstGeom prst="rect">
            <a:avLst/>
          </a:prstGeom>
          <a:solidFill>
            <a:srgbClr val="D7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8A9BB5"/>
                </a:solidFill>
                <a:latin typeface="Segoe UI"/>
              </a:rPr>
              <a:t>Presenta: Rol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35508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8A9BB5"/>
                </a:solidFill>
                <a:latin typeface="Segoe UI"/>
              </a:rPr>
              <a:t>RutaMoto · Fase 2 · Grupo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828800"/>
            <a:ext cx="4389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8A9BB5"/>
                </a:solidFill>
                <a:latin typeface="Segoe UI"/>
              </a:rPr>
              <a:t>Quiebre de stock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286000"/>
            <a:ext cx="43891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6000" b="1">
                <a:solidFill>
                  <a:srgbClr val="1F3A5F"/>
                </a:solidFill>
                <a:latin typeface="Segoe UI"/>
              </a:rPr>
              <a:t>2.8 %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3566160"/>
            <a:ext cx="43891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595959"/>
                </a:solidFill>
                <a:latin typeface="Segoe UI"/>
              </a:rPr>
              <a:t>Meta de la Fase 1: ≤ 5 %.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595959"/>
                </a:solidFill>
                <a:latin typeface="Segoe UI"/>
              </a:rPr>
              <a:t>Por primera vez, medido con datos reales.</a:t>
            </a:r>
          </a:p>
        </p:txBody>
      </p:sp>
      <p:pic>
        <p:nvPicPr>
          <p:cNvPr id="12" name="Picture 11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53610"/>
            <a:ext cx="6400800" cy="31737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3A5F"/>
                </a:solidFill>
                <a:latin typeface="Segoe UI"/>
              </a:rPr>
              <a:t>Plantillas y campaña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8A9BB5"/>
                </a:solidFill>
                <a:latin typeface="Segoe UI"/>
              </a:rPr>
              <a:t>Dos plantillas, un segmento, correos entregados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1097280" cy="40000"/>
          </a:xfrm>
          <a:prstGeom prst="rect">
            <a:avLst/>
          </a:prstGeom>
          <a:solidFill>
            <a:srgbClr val="D7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0" y="411480"/>
            <a:ext cx="1737360" cy="457200"/>
          </a:xfrm>
          <a:prstGeom prst="roundRect">
            <a:avLst/>
          </a:prstGeom>
          <a:solidFill>
            <a:srgbClr val="D7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F3A5F"/>
                </a:solidFill>
                <a:latin typeface="Segoe UI"/>
              </a:rPr>
              <a:t>DEMO EN VIVO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8A9BB5"/>
                </a:solidFill>
                <a:latin typeface="Segoe UI"/>
              </a:rPr>
              <a:t>Presenta: Rol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35508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8A9BB5"/>
                </a:solidFill>
                <a:latin typeface="Segoe UI"/>
              </a:rPr>
              <a:t>RutaMoto · Fase 2 · Grupo 14</a:t>
            </a:r>
          </a:p>
        </p:txBody>
      </p:sp>
      <p:pic>
        <p:nvPicPr>
          <p:cNvPr id="9" name="Picture 8" descr="banner_promo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5486400" cy="1828800"/>
          </a:xfrm>
          <a:prstGeom prst="rect">
            <a:avLst/>
          </a:prstGeom>
        </p:spPr>
      </p:pic>
      <p:pic>
        <p:nvPicPr>
          <p:cNvPr id="10" name="Picture 9" descr="banner_fideliz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40480"/>
            <a:ext cx="5486400" cy="1828800"/>
          </a:xfrm>
          <a:prstGeom prst="rect">
            <a:avLst/>
          </a:prstGeom>
        </p:spPr>
      </p:pic>
      <p:pic>
        <p:nvPicPr>
          <p:cNvPr id="12" name="Picture 11" descr="imag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341589"/>
            <a:ext cx="5303520" cy="281490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3A5F"/>
                </a:solidFill>
                <a:latin typeface="Segoe UI"/>
              </a:rPr>
              <a:t>Pipeline de ventas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8A9BB5"/>
                </a:solidFill>
                <a:latin typeface="Segoe UI"/>
              </a:rPr>
              <a:t>Cinco etapas, cinco oportunidades, una de punta a punta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1097280" cy="40000"/>
          </a:xfrm>
          <a:prstGeom prst="rect">
            <a:avLst/>
          </a:prstGeom>
          <a:solidFill>
            <a:srgbClr val="D7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0" y="411480"/>
            <a:ext cx="1737360" cy="457200"/>
          </a:xfrm>
          <a:prstGeom prst="roundRect">
            <a:avLst/>
          </a:prstGeom>
          <a:solidFill>
            <a:srgbClr val="D7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F3A5F"/>
                </a:solidFill>
                <a:latin typeface="Segoe UI"/>
              </a:rPr>
              <a:t>DEMO EN VIVO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8A9BB5"/>
                </a:solidFill>
                <a:latin typeface="Segoe UI"/>
              </a:rPr>
              <a:t>Presenta: Rol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35508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8A9BB5"/>
                </a:solidFill>
                <a:latin typeface="Segoe UI"/>
              </a:rPr>
              <a:t>RutaMoto · Fase 2 · Grupo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2103120" cy="548640"/>
          </a:xfrm>
          <a:prstGeom prst="rect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74519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1">
                <a:solidFill>
                  <a:srgbClr val="1F3A5F"/>
                </a:solidFill>
                <a:latin typeface="Segoe UI"/>
              </a:rPr>
              <a:t>Nuevo lead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16352" y="1828800"/>
            <a:ext cx="2103120" cy="548640"/>
          </a:xfrm>
          <a:prstGeom prst="rect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16352" y="1874519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1">
                <a:solidFill>
                  <a:srgbClr val="1F3A5F"/>
                </a:solidFill>
                <a:latin typeface="Segoe UI"/>
              </a:rPr>
              <a:t>Contactado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84064" y="1828800"/>
            <a:ext cx="2103120" cy="548640"/>
          </a:xfrm>
          <a:prstGeom prst="rect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1874519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1">
                <a:solidFill>
                  <a:srgbClr val="1F3A5F"/>
                </a:solidFill>
                <a:latin typeface="Segoe UI"/>
              </a:rPr>
              <a:t>Cotización enviada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51775" y="1828800"/>
            <a:ext cx="2103120" cy="548640"/>
          </a:xfrm>
          <a:prstGeom prst="rect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1775" y="1874519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1">
                <a:solidFill>
                  <a:srgbClr val="1F3A5F"/>
                </a:solidFill>
                <a:latin typeface="Segoe UI"/>
              </a:rPr>
              <a:t>Negociación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19488" y="1828800"/>
            <a:ext cx="2103120" cy="548640"/>
          </a:xfrm>
          <a:prstGeom prst="rect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19488" y="1874519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1">
                <a:solidFill>
                  <a:srgbClr val="1F3A5F"/>
                </a:solidFill>
                <a:latin typeface="Segoe UI"/>
              </a:rPr>
              <a:t>Ganado</a:t>
            </a:r>
          </a:p>
        </p:txBody>
      </p:sp>
      <p:pic>
        <p:nvPicPr>
          <p:cNvPr id="20" name="Picture 19" descr="imag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5107" y="2651760"/>
            <a:ext cx="6542745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3A5F"/>
                </a:solidFill>
                <a:latin typeface="Segoe UI"/>
              </a:rPr>
              <a:t>Medición de la fase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8A9BB5"/>
                </a:solidFill>
                <a:latin typeface="Segoe UI"/>
              </a:rPr>
              <a:t>Indicadores del proceso, con datos de Odoo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1097280" cy="40000"/>
          </a:xfrm>
          <a:prstGeom prst="rect">
            <a:avLst/>
          </a:prstGeom>
          <a:solidFill>
            <a:srgbClr val="D7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8A9BB5"/>
                </a:solidFill>
                <a:latin typeface="Segoe UI"/>
              </a:rPr>
              <a:t>Presenta: Rol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35508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8A9BB5"/>
                </a:solidFill>
                <a:latin typeface="Segoe UI"/>
              </a:rPr>
              <a:t>RutaMoto · Fase 2 · Grupo 14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828800"/>
          <a:ext cx="111556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97600"/>
                <a:gridCol w="2479040"/>
                <a:gridCol w="247904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Indicador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Meta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Resultado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Exactitud de la carga masiva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100 %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100 %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Cuadre del inventario</a:t>
                      </a:r>
                    </a:p>
                  </a:txBody>
                  <a:tcPr>
                    <a:solidFill>
                      <a:srgbClr val="DDE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Q 0.00</a:t>
                      </a:r>
                    </a:p>
                  </a:txBody>
                  <a:tcPr>
                    <a:solidFill>
                      <a:srgbClr val="DDE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Q 0.00</a:t>
                      </a:r>
                    </a:p>
                  </a:txBody>
                  <a:tcPr>
                    <a:solidFill>
                      <a:srgbClr val="DDE4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Quiebre de stock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≤ 5 %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2.8 %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Cumplimiento de compras</a:t>
                      </a:r>
                    </a:p>
                  </a:txBody>
                  <a:tcPr>
                    <a:solidFill>
                      <a:srgbClr val="DDE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≥ 75 %</a:t>
                      </a:r>
                    </a:p>
                  </a:txBody>
                  <a:tcPr>
                    <a:solidFill>
                      <a:srgbClr val="DDE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75 %</a:t>
                      </a:r>
                    </a:p>
                  </a:txBody>
                  <a:tcPr>
                    <a:solidFill>
                      <a:srgbClr val="DDE4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Conversión de cotizaciones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≥ 50 %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No se calcula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Entrega de la campaña</a:t>
                      </a:r>
                    </a:p>
                  </a:txBody>
                  <a:tcPr>
                    <a:solidFill>
                      <a:srgbClr val="DDE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≥ 95 %</a:t>
                      </a:r>
                    </a:p>
                  </a:txBody>
                  <a:tcPr>
                    <a:solidFill>
                      <a:srgbClr val="DDE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100 %</a:t>
                      </a:r>
                    </a:p>
                  </a:txBody>
                  <a:tcPr>
                    <a:solidFill>
                      <a:srgbClr val="DDE4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3A5F"/>
                </a:solidFill>
                <a:latin typeface="Segoe UI"/>
              </a:rPr>
              <a:t>Lo que sigue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8A9BB5"/>
                </a:solidFill>
                <a:latin typeface="Segoe UI"/>
              </a:rPr>
              <a:t>Fase 3: integración y análisis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1097280" cy="40000"/>
          </a:xfrm>
          <a:prstGeom prst="rect">
            <a:avLst/>
          </a:prstGeom>
          <a:solidFill>
            <a:srgbClr val="D7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8A9BB5"/>
                </a:solidFill>
                <a:latin typeface="Segoe UI"/>
              </a:rPr>
              <a:t>Presenta: Rol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35508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8A9BB5"/>
                </a:solidFill>
                <a:latin typeface="Segoe UI"/>
              </a:rPr>
              <a:t>RutaMoto · Fase 2 · Grupo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109728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595959"/>
                </a:solidFill>
                <a:latin typeface="Segoe UI"/>
              </a:rPr>
              <a:t>•  Sitio web e-commerce sobre este mismo catálogo de 38 productos.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595959"/>
                </a:solidFill>
                <a:latin typeface="Segoe UI"/>
              </a:rPr>
              <a:t>•  La venta en línea genera sola el pedido, el descuento de inventario y el registro en el CRM.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595959"/>
                </a:solidFill>
                <a:latin typeface="Segoe UI"/>
              </a:rPr>
              <a:t>•  Portal de cliente y reportes de BI sobre los datos que cargamos hoy.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206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3A5F"/>
                </a:solidFill>
                <a:latin typeface="Segoe UI"/>
              </a:rPr>
              <a:t>Gracias. ¿Preguntas?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RutaMoto · Fase 2</dc:title>
  <dc:subject/>
  <dc:creator>Grupo 14</dc:creator>
  <cp:keywords/>
  <dc:description/>
  <cp:lastModifiedBy>Grupo 14</cp:lastModifiedBy>
  <cp:revision>1</cp:revision>
  <dcterms:created xsi:type="dcterms:W3CDTF">2013-01-27T09:14:16Z</dcterms:created>
  <dcterms:modified xsi:type="dcterms:W3CDTF">2013-01-27T09:15:58Z</dcterms:modified>
  <cp:category/>
</cp:coreProperties>
</file>