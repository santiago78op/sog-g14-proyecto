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 3 importa UNA fila nueva en vivo con Probar. Rol 2 crea un producto en vivo. No repetir la importación completa: duplica productos.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requisición no existe como documento en Odoo 18 Community: en nuestro diseño es la alerta de reabastecimiento. Decirlo como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_rutam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56032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RutaMoto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DDE4EE"/>
                </a:solidFill>
                <a:latin typeface="Segoe UI"/>
              </a:rPr>
              <a:t>Transformación Digital en E-Commerce con ERP, CRM y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160520"/>
            <a:ext cx="1280160" cy="45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DDE4EE"/>
                </a:solidFill>
                <a:latin typeface="Segoe UI"/>
              </a:rPr>
              <a:t>Fase 2 · Configuración, desarrollo de módulos y operación base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DE4EE"/>
                </a:solidFill>
                <a:latin typeface="Segoe UI"/>
              </a:rPr>
              <a:t>Grupo 14 · Sistemas Organizacionales y Gerenciales 1 · Sección A · 3 de octubre 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Santiago Julián Barrera Reyes 201905884  ·  Jemima Solmaira Chavajay 201801521  ·  Alberto Josué Hernández Armas 201903553  ·  Brayan Emanuel García 202300848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Qué pedía la Fase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De un ERP instalado a un ERP que opera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676655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0285"/>
                <a:gridCol w="1396274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Criterio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Pts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Carga manual y masiva, validada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Compras y cotizaciones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Correos desde el CRM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Medición de logros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Documentación · Entregables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10 + 10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Demostración técnica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1828800"/>
            <a:ext cx="4023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Dos condiciones que no son puntos: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•  El ciclo de compras, demostrable.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•  Los manuales, con captura en cada paso.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Si falla una, el proyecto vale cero.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Una sola base para los cuatro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Cómo trabajamos en paralelo sin descuadrar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760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Segoe UI"/>
              </a:rPr>
              <a:t>•  La instancia de la Fase 1, en una sola laptop.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Segoe UI"/>
              </a:rPr>
              <a:t>•  Acceso remoto por túnel de Cloudflare.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Segoe UI"/>
              </a:rPr>
              <a:t>•  Un usuario por integrante: el historial de cada registro dice quién lo hizo.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595959"/>
                </a:solidFill>
                <a:latin typeface="Segoe UI"/>
              </a:rPr>
              <a:t>•  Respaldos antes de la carga, después y al cierre.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828800"/>
            <a:ext cx="5120640" cy="3931920"/>
          </a:xfrm>
          <a:prstGeom prst="rect">
            <a:avLst/>
          </a:prstGeom>
          <a:solidFill>
            <a:srgbClr val="F5F7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 captura: usuarios de la instancia o historial de un registro con su autor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Los datos maestros cuadran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Un Excel, siete hojas, en orden de dependencia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6035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41120"/>
                <a:gridCol w="1341120"/>
                <a:gridCol w="13411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Dato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Masiva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Manual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Productos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Proveedores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Inventario al costo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 38,096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 6,904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 45,000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49440" y="182880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Q 45,000 es el rubro «Inventario inicial» del presupuesto de la Fase 1.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595959"/>
                </a:solidFill>
                <a:latin typeface="Segoe UI"/>
              </a:rPr>
              <a:t>Cuatro productos quedan bajo el mínimo a propósito: son los que disparan las alertas y las compras.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Carga masiva y carga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30 puntos: las dos modalidades y la validación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Roles 3 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solidFill>
            <a:srgbClr val="F5F7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 captura: importación con el mapeo y la prueba sin errores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394960" cy="4023360"/>
          </a:xfrm>
          <a:prstGeom prst="rect">
            <a:avLst/>
          </a:prstGeom>
          <a:solidFill>
            <a:srgbClr val="F5F7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 captura: producto de Accesorios creado a mano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Ciclo de compras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Alerta de stock bajo → solicitud → orden → recepción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sp>
        <p:nvSpPr>
          <p:cNvPr id="9" name="Pentagon 8"/>
          <p:cNvSpPr/>
          <p:nvPr/>
        </p:nvSpPr>
        <p:spPr>
          <a:xfrm>
            <a:off x="548640" y="1920240"/>
            <a:ext cx="2560320" cy="1280160"/>
          </a:xfrm>
          <a:prstGeom prst="homePlat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64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Alerta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FRE-001: 6 &lt; mín. 15</a:t>
            </a:r>
          </a:p>
        </p:txBody>
      </p:sp>
      <p:sp>
        <p:nvSpPr>
          <p:cNvPr id="11" name="Chevron 10"/>
          <p:cNvSpPr/>
          <p:nvPr/>
        </p:nvSpPr>
        <p:spPr>
          <a:xfrm>
            <a:off x="3383280" y="1920240"/>
            <a:ext cx="2560320" cy="1280160"/>
          </a:xfrm>
          <a:prstGeom prst="chevron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2057400"/>
            <a:ext cx="164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Solicitud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44 u. al proveedor</a:t>
            </a:r>
          </a:p>
        </p:txBody>
      </p:sp>
      <p:sp>
        <p:nvSpPr>
          <p:cNvPr id="13" name="Chevron 12"/>
          <p:cNvSpPr/>
          <p:nvPr/>
        </p:nvSpPr>
        <p:spPr>
          <a:xfrm>
            <a:off x="6217920" y="1920240"/>
            <a:ext cx="2560320" cy="1280160"/>
          </a:xfrm>
          <a:prstGeom prst="chevron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057400"/>
            <a:ext cx="164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Orden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Confirmada</a:t>
            </a:r>
          </a:p>
        </p:txBody>
      </p:sp>
      <p:sp>
        <p:nvSpPr>
          <p:cNvPr id="15" name="Chevron 14"/>
          <p:cNvSpPr/>
          <p:nvPr/>
        </p:nvSpPr>
        <p:spPr>
          <a:xfrm>
            <a:off x="9052560" y="1920240"/>
            <a:ext cx="2560320" cy="1280160"/>
          </a:xfrm>
          <a:prstGeom prst="chevron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2057400"/>
            <a:ext cx="1645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Recepción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6 → 50 unidades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11155680" cy="2377440"/>
          </a:xfrm>
          <a:prstGeom prst="rect">
            <a:avLst/>
          </a:prstGeom>
          <a:solidFill>
            <a:srgbClr val="F5F7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 captura: historial de movimientos con la entrada de FRE-001 ]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De la cotización a la venta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Tarifa de talleres, cotización, pedido, entrega y factura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28800"/>
          <a:ext cx="5852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296"/>
                <a:gridCol w="2340864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Cotización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Estado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 · El Pistón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Facturada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2 · MotoClínica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Entregada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3 · Entusiasta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Enviada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4 · Dos Ruedas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Cancelada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675120" y="1828800"/>
            <a:ext cx="5029200" cy="4023360"/>
          </a:xfrm>
          <a:prstGeom prst="rect">
            <a:avLst/>
          </a:prstGeom>
          <a:solidFill>
            <a:srgbClr val="F5F7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 captura: cotización 1 con la tarifa de talleres aplicada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Informe de inventario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Existencias, órdenes pendientes y alertas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6400800" cy="4023360"/>
          </a:xfrm>
          <a:prstGeom prst="rect">
            <a:avLst/>
          </a:prstGeom>
          <a:solidFill>
            <a:srgbClr val="F5F7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 captura: existencias por categoría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82880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Quiebre de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28600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>
                <a:solidFill>
                  <a:srgbClr val="1F3A5F"/>
                </a:solidFill>
                <a:latin typeface="Segoe UI"/>
              </a:rPr>
              <a:t>__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566160"/>
            <a:ext cx="4389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Segoe UI"/>
              </a:rPr>
              <a:t>Meta de la Fase 1: ≤ 5 %.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95959"/>
                </a:solidFill>
                <a:latin typeface="Segoe UI"/>
              </a:rPr>
              <a:t>Por primera vez, medido con datos reales.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Plantillas y campaña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Dos plantillas, un segmento, correos entregados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pic>
        <p:nvPicPr>
          <p:cNvPr id="9" name="Picture 8" descr="banner_promo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486400" cy="1828800"/>
          </a:xfrm>
          <a:prstGeom prst="rect">
            <a:avLst/>
          </a:prstGeom>
        </p:spPr>
      </p:pic>
      <p:pic>
        <p:nvPicPr>
          <p:cNvPr id="10" name="Picture 9" descr="banner_fideliz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5486400" cy="18288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0" y="1828800"/>
            <a:ext cx="5303520" cy="3840480"/>
          </a:xfrm>
          <a:prstGeom prst="rect">
            <a:avLst/>
          </a:prstGeom>
          <a:solidFill>
            <a:srgbClr val="F5F7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 captura: estadísticas de la campaña al segmento Repartidor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Pipeline de ventas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Cinco etapas, cinco oportunidades, una de punta a punta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411480"/>
            <a:ext cx="1737360" cy="457200"/>
          </a:xfrm>
          <a:prstGeom prst="round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A5F"/>
                </a:solidFill>
                <a:latin typeface="Segoe U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103120" cy="548640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Segoe UI"/>
              </a:rPr>
              <a:t>Nuevo lead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6352" y="1828800"/>
            <a:ext cx="2103120" cy="548640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1874519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Segoe UI"/>
              </a:rPr>
              <a:t>Contactado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4064" y="1828800"/>
            <a:ext cx="2103120" cy="548640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74519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Segoe UI"/>
              </a:rPr>
              <a:t>Cotización enviada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51775" y="1828800"/>
            <a:ext cx="2103120" cy="548640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1775" y="1874519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Segoe UI"/>
              </a:rPr>
              <a:t>Negociación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19488" y="1828800"/>
            <a:ext cx="2103120" cy="548640"/>
          </a:xfrm>
          <a:prstGeom prst="rect">
            <a:avLst/>
          </a:prstGeom>
          <a:solidFill>
            <a:srgbClr val="DD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8" y="1874519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Segoe UI"/>
              </a:rPr>
              <a:t>Ganado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51760"/>
            <a:ext cx="11155680" cy="3291840"/>
          </a:xfrm>
          <a:prstGeom prst="rect">
            <a:avLst/>
          </a:prstGeom>
          <a:solidFill>
            <a:srgbClr val="F5F7FA"/>
          </a:solidFill>
          <a:ln>
            <a:solidFill>
              <a:srgbClr val="8A9B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8A9BB5"/>
                </a:solidFill>
                <a:latin typeface="Segoe UI"/>
              </a:rPr>
              <a:t>[ captura: historial de la oportunidad con cada cambio de etapa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Medición de la fase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Indicadores del proceso, con datos de Odoo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7600"/>
                <a:gridCol w="2479040"/>
                <a:gridCol w="24790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Indicador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Meta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Resultado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Exactitud de la carga masiva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Cuadre del inventario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 0.00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DDE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Quiebre de stock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≤ 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Cumplimiento de compras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≥ 75 %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DDE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Conversión de cotizaciones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≥ 50 %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Entrega de la campaña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95959"/>
                          </a:solidFill>
                          <a:latin typeface="Segoe UI"/>
                        </a:rPr>
                        <a:t>≥ 95 %</a:t>
                      </a:r>
                    </a:p>
                  </a:txBody>
                  <a:tcPr>
                    <a:solidFill>
                      <a:srgbClr val="DDE4E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DDE4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F3A5F"/>
                </a:solidFill>
                <a:latin typeface="Segoe UI"/>
              </a:rPr>
              <a:t>Lo que sigue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8A9BB5"/>
                </a:solidFill>
                <a:latin typeface="Segoe UI"/>
              </a:rPr>
              <a:t>Fase 3: integración y análisis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40000"/>
          </a:xfrm>
          <a:prstGeom prst="rect">
            <a:avLst/>
          </a:prstGeom>
          <a:solidFill>
            <a:srgbClr val="D79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8A9BB5"/>
                </a:solidFill>
                <a:latin typeface="Segoe UI"/>
              </a:rPr>
              <a:t>Presenta: Rol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550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8A9BB5"/>
                </a:solidFill>
                <a:latin typeface="Segoe UI"/>
              </a:rPr>
              <a:t>RutaMoto · Fase 2 · Grupo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0972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595959"/>
                </a:solidFill>
                <a:latin typeface="Segoe UI"/>
              </a:rPr>
              <a:t>•  Sitio web e-commerce sobre este mismo catálogo de 38 productos.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595959"/>
                </a:solidFill>
                <a:latin typeface="Segoe UI"/>
              </a:rPr>
              <a:t>•  La venta en línea genera sola el pedido, el descuento de inventario y el registro en el CRM.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595959"/>
                </a:solidFill>
                <a:latin typeface="Segoe UI"/>
              </a:rPr>
              <a:t>•  Portal de cliente y reportes de BI sobre los datos que cargamos hoy.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3A5F"/>
                </a:solidFill>
                <a:latin typeface="Segoe UI"/>
              </a:rPr>
              <a:t>Gracias.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