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7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5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frase por criterio. Remarcar que la integración es, según el enunciado, lo que más pesa.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decisión es de la Fase 1: Odoo trae el sitio como aplicación oficial. El sitio no copia productos ni existencias: escribe en los mismos registros que ventas, inventario y el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tienda en vivo. Si el túnel falla, usar localhost en la laptop de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 2 compra en vivo; rol 3 abre el mismo pedido en Ventas, Facturación e Inventario y valida la entrega. Usar un producto con existencia de sobra, fuera del top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WEB-09 o WEB-11. El correo se ve en Mailpit con el enlace al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Llenar «Resultado» con lo que pasó. Si algo falló, decirlo: es lo que más se valora.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Decirlo antes de que lo pregunten: la historia es simulada y está declarada en 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una compra antes y mostrar que aparece en la línea de hoy: es la prueba más fuerte de la integración.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resultados salen del BI el viernes 23. Decir qué es de la historia simulada y qué del sitio.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primera fila condiciona a las demás: sin servidor permanente, el sitio deja de existir cuando se apaga la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escriben el viernes 23 con los números del BI. Tres como mínimo, cada una con su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560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RutaMoto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DE4EE"/>
                </a:solidFill>
                <a:latin typeface="Segoe UI"/>
              </a:rPr>
              <a:t>Transformación Digital en E-Commerce con ERP, CRM y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60520"/>
            <a:ext cx="1280160" cy="4572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Segoe UI"/>
              </a:rPr>
              <a:t>Fase 3 · Integración, pruebas y análisis final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Segoe UI"/>
              </a:rPr>
              <a:t>Grupo 14 · Sistemas Organizacionales y Gerenciales 1 · Sección A · 24 de octubre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9BB5"/>
                </a:solidFill>
                <a:latin typeface="Segoe UI"/>
              </a:rPr>
              <a:t>Santiago Julián Barrera Reyes 201905884  ·  Jemima Solmaira Chavajay 201801521  ·  Alberto Josué Hernández Armas 201903553  ·  Brayan Emanuel García 202300848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Qué pedía la 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Cerrar el ciclo: del clic en el sitio al reporte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7665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7528"/>
                <a:gridCol w="1399032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Puntos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Sitio e-commerce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Integración ERP / CRM / web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Reportes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Conclusiones con datos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Documentación y entregables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Presentación final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«La integración es el aspecto más valorado y determinante para la calificación final.»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— Enunciado, comentarios generales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Por eso esta presentación sigue un solo pedido por todos los módulos.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Una sola base, cero conectores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Por qué la integración no se programa: se hereda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103120"/>
            <a:ext cx="1965960" cy="822960"/>
          </a:xfrm>
          <a:prstGeom prst="homePlat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Registro, carrito y pago</a:t>
            </a:r>
          </a:p>
        </p:txBody>
      </p:sp>
      <p:sp>
        <p:nvSpPr>
          <p:cNvPr id="10" name="Chevron 9"/>
          <p:cNvSpPr/>
          <p:nvPr/>
        </p:nvSpPr>
        <p:spPr>
          <a:xfrm>
            <a:off x="2377440" y="2103120"/>
            <a:ext cx="1965960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Pedido confirmado</a:t>
            </a:r>
          </a:p>
        </p:txBody>
      </p:sp>
      <p:sp>
        <p:nvSpPr>
          <p:cNvPr id="12" name="Chevron 11"/>
          <p:cNvSpPr/>
          <p:nvPr/>
        </p:nvSpPr>
        <p:spPr>
          <a:xfrm>
            <a:off x="4206240" y="2103120"/>
            <a:ext cx="1965960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Facturación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Factura automática</a:t>
            </a:r>
          </a:p>
        </p:txBody>
      </p:sp>
      <p:sp>
        <p:nvSpPr>
          <p:cNvPr id="14" name="Chevron 13"/>
          <p:cNvSpPr/>
          <p:nvPr/>
        </p:nvSpPr>
        <p:spPr>
          <a:xfrm>
            <a:off x="6035040" y="2103120"/>
            <a:ext cx="1965960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Inventario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Entrega y existencia</a:t>
            </a:r>
          </a:p>
        </p:txBody>
      </p:sp>
      <p:sp>
        <p:nvSpPr>
          <p:cNvPr id="16" name="Chevron 15"/>
          <p:cNvSpPr/>
          <p:nvPr/>
        </p:nvSpPr>
        <p:spPr>
          <a:xfrm>
            <a:off x="7863840" y="2103120"/>
            <a:ext cx="1965960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Cliente, lead y oportunidad</a:t>
            </a:r>
          </a:p>
        </p:txBody>
      </p:sp>
      <p:sp>
        <p:nvSpPr>
          <p:cNvPr id="18" name="Chevron 17"/>
          <p:cNvSpPr/>
          <p:nvPr/>
        </p:nvSpPr>
        <p:spPr>
          <a:xfrm>
            <a:off x="9692640" y="2103120"/>
            <a:ext cx="1965960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Portal y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El cliente y la gerencia lo 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Un evento del sitio crea el registro en el módulo que corresponde, sin exportar ni copiar.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El único paso manual es físico: la bodega valida la entrega cuando el paquete sale.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Elegido en la Fase 1: ERPNext y Dolibarr obligaban a sincronizar con una tienda aparte.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El sitio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38 productos, 6 categorías, registro, carrito, pago y factura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tienda con las 6 categorías y los productos con imagen y precio]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Registro gratuito de clientes.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Tarifa Talleres B2B visible para los talleres.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Pago con proveedor en modo de prueba.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Factura automática al confirmarse el pago.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Sin venta de productos agotados.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Una compra de punta a punta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Flujo A: el mismo número de pedido en cada módulo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Roles 2 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2011680"/>
            <a:ext cx="1704702" cy="822960"/>
          </a:xfrm>
          <a:prstGeom prst="homePlat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Registro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Cliente nuevo</a:t>
            </a:r>
          </a:p>
        </p:txBody>
      </p:sp>
      <p:sp>
        <p:nvSpPr>
          <p:cNvPr id="11" name="Chevron 10"/>
          <p:cNvSpPr/>
          <p:nvPr/>
        </p:nvSpPr>
        <p:spPr>
          <a:xfrm>
            <a:off x="2116182" y="2011680"/>
            <a:ext cx="1704702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Carrito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342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Catálogo y cantidades</a:t>
            </a:r>
          </a:p>
        </p:txBody>
      </p:sp>
      <p:sp>
        <p:nvSpPr>
          <p:cNvPr id="13" name="Chevron 12"/>
          <p:cNvSpPr/>
          <p:nvPr/>
        </p:nvSpPr>
        <p:spPr>
          <a:xfrm>
            <a:off x="3683725" y="2011680"/>
            <a:ext cx="1704702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0885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Modo de prueba</a:t>
            </a:r>
          </a:p>
        </p:txBody>
      </p:sp>
      <p:sp>
        <p:nvSpPr>
          <p:cNvPr id="15" name="Chevron 14"/>
          <p:cNvSpPr/>
          <p:nvPr/>
        </p:nvSpPr>
        <p:spPr>
          <a:xfrm>
            <a:off x="5251268" y="2011680"/>
            <a:ext cx="1704702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Pedido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8428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Ventas, equipo Sitio web</a:t>
            </a:r>
          </a:p>
        </p:txBody>
      </p:sp>
      <p:sp>
        <p:nvSpPr>
          <p:cNvPr id="17" name="Chevron 16"/>
          <p:cNvSpPr/>
          <p:nvPr/>
        </p:nvSpPr>
        <p:spPr>
          <a:xfrm>
            <a:off x="6818811" y="2011680"/>
            <a:ext cx="1704702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5971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Publicada y pagada</a:t>
            </a:r>
          </a:p>
        </p:txBody>
      </p:sp>
      <p:sp>
        <p:nvSpPr>
          <p:cNvPr id="19" name="Chevron 18"/>
          <p:cNvSpPr/>
          <p:nvPr/>
        </p:nvSpPr>
        <p:spPr>
          <a:xfrm>
            <a:off x="8386354" y="2011680"/>
            <a:ext cx="1704702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Entrega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3514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Baja la existencia</a:t>
            </a:r>
          </a:p>
        </p:txBody>
      </p:sp>
      <p:sp>
        <p:nvSpPr>
          <p:cNvPr id="21" name="Chevron 20"/>
          <p:cNvSpPr/>
          <p:nvPr/>
        </p:nvSpPr>
        <p:spPr>
          <a:xfrm>
            <a:off x="9953897" y="2011680"/>
            <a:ext cx="1704702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1057" y="2926080"/>
            <a:ext cx="14761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El cliente lo 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0972800" cy="219456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el mismo pedido en Ventas, en la factura y en la entrega]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Del sitio al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Flujo B: de un formulario a una venta aceptada en el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2011680"/>
            <a:ext cx="2331720" cy="822960"/>
          </a:xfrm>
          <a:prstGeom prst="homePlat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Formulario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Contáctanos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3200" y="2011680"/>
            <a:ext cx="2331720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Entra solo al CRM</a:t>
            </a:r>
          </a:p>
        </p:txBody>
      </p:sp>
      <p:sp>
        <p:nvSpPr>
          <p:cNvPr id="13" name="Chevron 12"/>
          <p:cNvSpPr/>
          <p:nvPr/>
        </p:nvSpPr>
        <p:spPr>
          <a:xfrm>
            <a:off x="4937759" y="2011680"/>
            <a:ext cx="2331720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Oportunidad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926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Pipeline de la Fase 2</a:t>
            </a:r>
          </a:p>
        </p:txBody>
      </p:sp>
      <p:sp>
        <p:nvSpPr>
          <p:cNvPr id="15" name="Chevron 14"/>
          <p:cNvSpPr/>
          <p:nvPr/>
        </p:nvSpPr>
        <p:spPr>
          <a:xfrm>
            <a:off x="7132319" y="2011680"/>
            <a:ext cx="2331720" cy="822960"/>
          </a:xfrm>
          <a:prstGeom prst="chevron">
            <a:avLst/>
          </a:prstGeom>
          <a:solidFill>
            <a:srgbClr val="2E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Cotización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926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Enviada por correo</a:t>
            </a:r>
          </a:p>
        </p:txBody>
      </p:sp>
      <p:sp>
        <p:nvSpPr>
          <p:cNvPr id="17" name="Chevron 16"/>
          <p:cNvSpPr/>
          <p:nvPr/>
        </p:nvSpPr>
        <p:spPr>
          <a:xfrm>
            <a:off x="9326880" y="2011680"/>
            <a:ext cx="2331720" cy="8229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926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Segoe UI"/>
              </a:rPr>
              <a:t>El cliente acepta y paga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10972800" cy="219456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lead creado desde el sitio y la cotización aceptada en el portal]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Portal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Pedidos, entregas y facturas, sin llamar a la tienda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Mi cuenta: lista de pedidos con su estado y una factura en PDF]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Lo que pide el alcance obligatorio del enunciado: que el cliente vea el estado de sus pedidos y facturas en el sitio.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Acceso: registro propio o invitación desde Contactos.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Doce pedidos, cinco flujos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Cada pedido del plan prueba algo distinto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852160"/>
                <a:gridCol w="2743200"/>
                <a:gridCol w="15544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Flujo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Qué prueba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Pedidos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Compra directa: registro → pago → factura → entrega →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WEB-01 a 03, 06, 08, 10,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Cotización desde el sitio vía CRM, aceptada en el portal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WEB-09, WEB-11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Taller con tarifa 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WEB-05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Quiebre resuelto: LLA-002 vuelve tras recibir P00004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WEB-04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Carrito abandonado queda como cotización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WEB-07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Con qué datos se analiza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Historia simulada y ventas reales, siempre separadas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Roles 1 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7665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Historia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Sitio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Período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 al 20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21 al 23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Pedidos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11 + 1 carrito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Canal en Odoo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Ventas directas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Sitio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Origen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Script por la API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El grupo, como clientes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Sin la historia, la gráfica por día, semana y mes tendría tres puntos.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Se cargó por el ORM de Odoo: cada pedido tiene su entrega, su factura y su pago, no solo una fecha.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BI ·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Existencias, categorías y stock bajo, sobre la base en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barras: existencias por producto]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pastel: inventario por categoría]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5661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tabla: productos bajo el mínimo]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BI ·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Evolución por día, semana y mes, y los cinco más vendidos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líneas: ventas por día (cambiar a semana y mes en vivo)]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[Captura: top 5 de productos por cantidad]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Los indicadores contra la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Metas de la Fase 1, resultados del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01168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Indicador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Meta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¿Cumple?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Ticket promedio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Tasa de recompra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20 %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Entregas en menos de 24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90 %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Quiebre de stock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≤ 5 %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Tasa de conversión del sitio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Muestra del prototipo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Satisfacción postventa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4.3 / 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No medido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Va en escalabilidad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De prototipo 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Lo que falta, por prioridad, con el presupuesto de la Fase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572000"/>
                <a:gridCol w="25603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Mejora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Qué resuelve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Costo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Servidor en la nube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El punto único de falla: una laptop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2,400 al 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Dominio rutamoto.gt con HTTPS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Dirección fija y cobro seguro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700 al año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Pasarela de pago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Cobro con tarjeta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1,500 + comisión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Encuesta postventa (Odoo)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Medir la satisfacción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Sin licencia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Zonas de entrega fuera del área metropolitana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La expansión del caso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Sin rubro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Las tres mejoras con costo suman Q 4,600 y ya están dentro de los Q 67,100 de la Fase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Lo que dicen los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36576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3 · Grupo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1.  —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2.  —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3. 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Segoe UI"/>
              </a:rPr>
              <a:t>Gracias.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RutaMoto · Fase 2</dc:title>
  <dc:subject/>
  <dc:creator>Grupo 14</dc:creator>
  <cp:keywords/>
  <dc:description/>
  <cp:lastModifiedBy>Grupo 14</cp:lastModifiedBy>
  <cp:revision>1</cp:revision>
  <dcterms:created xsi:type="dcterms:W3CDTF">2013-01-27T09:14:16Z</dcterms:created>
  <dcterms:modified xsi:type="dcterms:W3CDTF">2013-01-27T09:15:58Z</dcterms:modified>
  <cp:category/>
</cp:coreProperties>
</file>